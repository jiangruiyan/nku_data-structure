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  <p:sldMasterId id="2147483674" r:id="rId3"/>
    <p:sldMasterId id="2147483686" r:id="rId4"/>
    <p:sldMasterId id="2147483698" r:id="rId5"/>
    <p:sldMasterId id="2147483710" r:id="rId6"/>
    <p:sldMasterId id="2147483722" r:id="rId7"/>
    <p:sldMasterId id="2147483734" r:id="rId8"/>
    <p:sldMasterId id="2147483746" r:id="rId9"/>
  </p:sldMasterIdLst>
  <p:notesMasterIdLst>
    <p:notesMasterId r:id="rId78"/>
  </p:notesMasterIdLst>
  <p:sldIdLst>
    <p:sldId id="256" r:id="rId10"/>
    <p:sldId id="257" r:id="rId11"/>
    <p:sldId id="511" r:id="rId12"/>
    <p:sldId id="512" r:id="rId13"/>
    <p:sldId id="513" r:id="rId14"/>
    <p:sldId id="514" r:id="rId15"/>
    <p:sldId id="524" r:id="rId16"/>
    <p:sldId id="515" r:id="rId17"/>
    <p:sldId id="516" r:id="rId18"/>
    <p:sldId id="517" r:id="rId19"/>
    <p:sldId id="518" r:id="rId20"/>
    <p:sldId id="519" r:id="rId21"/>
    <p:sldId id="520" r:id="rId22"/>
    <p:sldId id="522" r:id="rId23"/>
    <p:sldId id="523" r:id="rId24"/>
    <p:sldId id="510" r:id="rId25"/>
    <p:sldId id="590" r:id="rId26"/>
    <p:sldId id="596" r:id="rId27"/>
    <p:sldId id="601" r:id="rId28"/>
    <p:sldId id="597" r:id="rId29"/>
    <p:sldId id="600" r:id="rId30"/>
    <p:sldId id="604" r:id="rId31"/>
    <p:sldId id="605" r:id="rId32"/>
    <p:sldId id="602" r:id="rId33"/>
    <p:sldId id="603" r:id="rId34"/>
    <p:sldId id="606" r:id="rId35"/>
    <p:sldId id="607" r:id="rId36"/>
    <p:sldId id="611" r:id="rId37"/>
    <p:sldId id="608" r:id="rId38"/>
    <p:sldId id="612" r:id="rId39"/>
    <p:sldId id="609" r:id="rId40"/>
    <p:sldId id="613" r:id="rId41"/>
    <p:sldId id="614" r:id="rId42"/>
    <p:sldId id="610" r:id="rId43"/>
    <p:sldId id="616" r:id="rId44"/>
    <p:sldId id="617" r:id="rId45"/>
    <p:sldId id="629" r:id="rId46"/>
    <p:sldId id="630" r:id="rId47"/>
    <p:sldId id="631" r:id="rId48"/>
    <p:sldId id="632" r:id="rId49"/>
    <p:sldId id="633" r:id="rId50"/>
    <p:sldId id="634" r:id="rId51"/>
    <p:sldId id="635" r:id="rId52"/>
    <p:sldId id="636" r:id="rId53"/>
    <p:sldId id="637" r:id="rId54"/>
    <p:sldId id="638" r:id="rId55"/>
    <p:sldId id="639" r:id="rId56"/>
    <p:sldId id="640" r:id="rId57"/>
    <p:sldId id="641" r:id="rId58"/>
    <p:sldId id="642" r:id="rId59"/>
    <p:sldId id="643" r:id="rId60"/>
    <p:sldId id="644" r:id="rId61"/>
    <p:sldId id="618" r:id="rId62"/>
    <p:sldId id="646" r:id="rId63"/>
    <p:sldId id="619" r:id="rId64"/>
    <p:sldId id="621" r:id="rId65"/>
    <p:sldId id="628" r:id="rId66"/>
    <p:sldId id="622" r:id="rId67"/>
    <p:sldId id="623" r:id="rId68"/>
    <p:sldId id="624" r:id="rId69"/>
    <p:sldId id="626" r:id="rId70"/>
    <p:sldId id="627" r:id="rId71"/>
    <p:sldId id="595" r:id="rId72"/>
    <p:sldId id="594" r:id="rId73"/>
    <p:sldId id="593" r:id="rId74"/>
    <p:sldId id="267" r:id="rId75"/>
    <p:sldId id="598" r:id="rId76"/>
    <p:sldId id="599" r:id="rId77"/>
  </p:sldIdLst>
  <p:sldSz cx="9144000" cy="6858000" type="screen4x3"/>
  <p:notesSz cx="6858000" cy="9144000"/>
  <p:custDataLst>
    <p:tags r:id="rId7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0000CC"/>
    <a:srgbClr val="FF0000"/>
    <a:srgbClr val="009900"/>
    <a:srgbClr val="FFFFCC"/>
    <a:srgbClr val="F8F8F8"/>
    <a:srgbClr val="FFFF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1" autoAdjust="0"/>
    <p:restoredTop sz="91125" autoAdjust="0"/>
  </p:normalViewPr>
  <p:slideViewPr>
    <p:cSldViewPr showGuides="1">
      <p:cViewPr varScale="1">
        <p:scale>
          <a:sx n="113" d="100"/>
          <a:sy n="113" d="100"/>
        </p:scale>
        <p:origin x="66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tags" Target="tags/tag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82" Type="http://schemas.openxmlformats.org/officeDocument/2006/relationships/theme" Target="theme/theme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slide" Target="slides/slide6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E325449-2A49-4F30-B2A1-8244B268AC4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9"/>
          <p:cNvGrpSpPr/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291" y="5877352"/>
              <a:ext cx="720000" cy="7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14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/>
                <a:t>计算机学院</a:t>
              </a: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17F68B-E9CD-4814-BAB3-57B813231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8D8077-C8D8-4A47-9FDE-08EC5A4C84F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6D4998-B963-4D1B-A13A-9566EB4EDCC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47030B3-4764-4B4C-AB4D-3BB92F7F7C4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FA2067-F994-447D-BF61-1ACB5BE664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3F1245-26EA-4ABC-A409-FB25A1C9E6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14A22A-8400-41A2-93E8-596D86018DF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307F19-AA65-478D-B67F-2F58AFAC622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701DE57-91F3-420A-89A7-76171940490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49663-EFC1-485F-9A70-C9DCC14F369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55E3E3-E25A-45E2-A7AC-F63CCC3BA8A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20F28E2-33D0-47D1-A3EF-9EA13EE31C9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9B9A75-87FF-4F42-96B4-03092DB49F9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CCC8FE-775D-45EE-BEB6-E1028370C9D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55F3AC-F197-44B6-8FDC-ED3BD3EFF76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50F8058-7368-40DE-8992-4A56DA6357A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ED14C0-DF8D-4793-937D-1A2B9B69766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799E04-579E-4B8F-897B-DB3590B1010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CF9487C-BB58-4DC6-AA4E-B286A182EA1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97466-B83B-4610-9E3B-1F5C06D32DC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267BCD-2FA6-4A54-8D3E-EB763D353F7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E40308-7E02-43B6-A687-BD6B8AE4590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C88A7B5-4D41-443E-8812-B86CCA4B9AB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41CCBD-2539-48CE-8956-1D33C4BBA9B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F6F294-F011-458E-A65C-68985FAD179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00C0B7-B7B3-485E-B2CA-2669D947789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FD7241-364A-45C0-A923-5BA1EC35043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51F241-2E68-47A4-952E-7A9E766E9B7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D4A95C-7EC3-4A35-B1B8-4A35811B5A3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4E2A99-3CFD-4863-9F08-18D6E4438FD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C3AA6A-FF03-434D-A927-EF6A36BD37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75D3F7-6136-4251-8244-66C8EED9839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1F63B1-F4F9-463C-9265-2FF4B93DF02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26C585-3673-488C-AAF6-7696F95AB56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9A3929-A563-4BFF-8BF8-751D91C423F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1AF205-353C-4B44-91A5-72808851762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570128-4EAD-4A1B-977B-8DB89704CD7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BE0BAE-78B6-4318-AA9A-8DDBB72D4A2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351299-6D67-4275-A382-DB494ABD1E3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B141233-214B-40C2-B254-254C5ED3B02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CC7B67-4889-4B10-8D00-CE431C05F90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1D5582-584F-4EA9-A143-48A254C8E6F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B95BC-966F-44F7-BE04-60C33F2FF7F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26D7EA-4984-4534-A347-27C80E1798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5DA0E6-2AE8-4A8E-8BCC-B850DE1C955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59BDA4-A415-42C9-838E-D8EFCADBA9C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829EB51-A876-4257-A949-ABF8B8434B6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B5BBC9-3AC8-406B-B01E-8C003E4767E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4DB6D-0454-45F2-86DB-55562134F9C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74FA908-4050-4F5E-8A88-109338E3F9C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383DC4-6F59-49BB-A2D6-F0BBB26EE1E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4065053-3E1F-4F50-8AFB-E47E6E57DF3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928385-01CE-495A-BBEF-E3B19667A6B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807431-0147-494E-9BBB-B21C95CDEE9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F0B007-7F95-4BEC-B4FB-14DFFD5A54B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5D18EF-9CAF-4D5F-B7D1-4F44D03D67B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777B71-F8E6-4C1B-9093-0AAC55A7893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50D175-51A8-4EE2-A84B-91421AD1E18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70CC19-CB25-43DB-8801-63DCBB47564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0AFC8E-514E-4490-8874-5B664B363DF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C55931-2980-4A19-B07E-1543BD92123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5A5A03-7EAC-4EDD-9420-6BAA9A83A4D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04AA6E2-2E77-4531-A019-245BAD00174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AE4C57-2DAD-4178-8631-4B27FDE0651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D78561-5047-4528-B0DE-D02040DE2A8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89A303A-896D-49CB-8EE9-6307B8A4288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3E19109-D3A6-4455-8D2C-B34416EFE11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2A7B152-7D70-404B-BB4A-EBCC5636F0A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1F1804-05CE-4363-9624-461922B163E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635A39-0D26-4295-9CD6-1B5666F98B0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E817DF-04D9-41C1-93D5-5DFC0A2F491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1BDED5-E64D-4D80-8535-1FC338F5FF9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FAEC8C-4A21-49E4-9E93-F29CB9E2DB0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8C03483-9C7E-4DBA-B625-25DF7166F1E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E1BD16-2709-4D5D-BDD9-EF991AD690E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C56E79-651F-4014-B4D1-8264EFB6CE1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4A3E9BE-606F-4068-BE8E-C98F7686057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C444A3-34A5-45A2-8925-7EEEF62D7A0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A3BF9B-12B1-4807-9356-D8553ABEBD1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E33633-FF92-4A9D-8E94-0682E096FE8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BFB794-CBDB-49E4-81BC-11CAFA73041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35DD2B-A490-45F3-BB25-669AC9B8BE2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F3DCE-3FE9-413A-8728-12E45A31B01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78C381-CEE6-4EC3-BDB4-88EF854ABBA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89EC4F9-3218-47F6-B1E4-8CA365AAD20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220C5FC-30E0-4F5C-AB3D-860011C6574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1D21AC-0DB5-45E6-98A7-20EA57F2F9E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75C9D6-08AB-443A-A867-ED6566C83B7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305085-F4C1-4DB9-9F49-AB4BD35D74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7610B9-760E-4C38-A075-3306B72BB24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5DA126-3438-4570-B8AB-5048B0EBD51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rgbClr val="4B4B4B"/>
                </a:solidFill>
              </a:defRPr>
            </a:lvl1pPr>
          </a:lstStyle>
          <a:p>
            <a:fld id="{76C87CEF-ACD1-4939-BACB-CBD7D560F7B3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410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10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104" name="组合 15"/>
          <p:cNvGrpSpPr/>
          <p:nvPr userDrawn="1"/>
        </p:nvGrpSpPr>
        <p:grpSpPr bwMode="auto">
          <a:xfrm>
            <a:off x="395288" y="6200775"/>
            <a:ext cx="2916237" cy="541338"/>
            <a:chOff x="4716016" y="5877352"/>
            <a:chExt cx="2915825" cy="540000"/>
          </a:xfrm>
        </p:grpSpPr>
        <p:pic>
          <p:nvPicPr>
            <p:cNvPr id="4105" name="Picture 3" descr="badge-logon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197" y="5970783"/>
              <a:ext cx="2339644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/>
                <a:t>计算机学院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sz="24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sz="16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131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3" name="Picture 5" descr="hc_DividerBG_purpl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6" descr="hc_Divider_TransLogo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2202759F-79B7-4CFB-963B-2334B78BE6C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5128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154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147" name="Picture 5" descr="hc_DividerGraphBG_purpl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74CF9AB-B114-4A85-8E3C-C70712A4CF7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6151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7179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171" name="Picture 12" descr="hc_DividerBG_Wgr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4101EE1C-00BF-42C2-819A-6967B1C61C9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1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71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176" name="Picture 6" descr="hc_Divider_TransLog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8202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195" name="Picture 11" descr="hc_DividerGraphBG_Wgr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BF98D6D2-0C24-447B-97AF-DAA8CE2045B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19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8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2" descr="hc_DividerBG_Cgrey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6" descr="hc_Divider_Trans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/>
            </a:lvl1pPr>
          </a:lstStyle>
          <a:p>
            <a:fld id="{C700CEBA-A3FE-4CD1-99D3-7BCC850CDB5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2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23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50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43" name="Picture 11" descr="hc_DividerGraphBG_Cgre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/>
            </a:lvl1pPr>
          </a:lstStyle>
          <a:p>
            <a:fld id="{E99D0DB8-7C8D-4B8A-AF60-E662E98C966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45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46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6" descr="hc_DividerGraphBG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90387FAA-A4C3-44AC-AF29-5A60F24EED0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9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1270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8"/>
          <p:cNvGrpSpPr/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2299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291" name="Picture 22" descr="hc_DividerBG_blu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17" descr="hc_Divider_TransLog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229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8288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D41354E-3ED0-48FC-A07A-D26EC1A62B8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t" anchorCtr="0" compatLnSpc="1"/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</a:t>
            </a:r>
            <a:r>
              <a:rPr lang="en-US" altLang="zh-CN">
                <a:ea typeface="宋体" panose="02010600030101010101" pitchFamily="2" charset="-122"/>
              </a:rPr>
              <a:t>10</a:t>
            </a:r>
            <a:r>
              <a:rPr lang="zh-CN" altLang="en-US">
                <a:ea typeface="宋体" panose="02010600030101010101" pitchFamily="2" charset="-122"/>
              </a:rPr>
              <a:t>章  散列</a:t>
            </a:r>
          </a:p>
        </p:txBody>
      </p:sp>
      <p:sp>
        <p:nvSpPr>
          <p:cNvPr id="24579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----</a:t>
            </a:r>
            <a:r>
              <a:rPr lang="zh-CN" altLang="en-US">
                <a:ea typeface="宋体" panose="02010600030101010101" pitchFamily="2" charset="-122"/>
              </a:rPr>
              <a:t>有序列表：基于高效访问的处理技术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字典（有序表）的定义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散列表</a:t>
            </a:r>
            <a:endParaRPr lang="en-US" altLang="zh-CN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2A59A3-B0EE-4BF8-879D-5A5D539B4BE0}" type="slidenum">
              <a:rPr lang="en-US" altLang="en-US">
                <a:solidFill>
                  <a:srgbClr val="4B4B4B"/>
                </a:solidFill>
              </a:rPr>
              <a:t>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字典</a:t>
            </a:r>
            <a:r>
              <a:rPr lang="en-US" altLang="zh-CN"/>
              <a:t>ADT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抽象数据类型</a:t>
            </a:r>
            <a:r>
              <a:rPr lang="en-US" altLang="zh-CN" sz="2400" i="1">
                <a:solidFill>
                  <a:srgbClr val="FF0000"/>
                </a:solidFill>
              </a:rPr>
              <a:t>Dictionary</a:t>
            </a:r>
            <a:r>
              <a:rPr lang="en-US" altLang="zh-CN" sz="2400"/>
              <a:t>{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实例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	具有不同</a:t>
            </a:r>
            <a:r>
              <a:rPr lang="zh-CN" altLang="en-US" sz="2400">
                <a:solidFill>
                  <a:schemeClr val="accent2"/>
                </a:solidFill>
              </a:rPr>
              <a:t>关键字</a:t>
            </a:r>
            <a:r>
              <a:rPr lang="zh-CN" altLang="en-US" sz="2400"/>
              <a:t>的元素</a:t>
            </a:r>
            <a:r>
              <a:rPr lang="zh-CN" altLang="en-US" sz="2400">
                <a:solidFill>
                  <a:schemeClr val="accent2"/>
                </a:solidFill>
              </a:rPr>
              <a:t>集合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操作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Create</a:t>
            </a:r>
            <a:r>
              <a:rPr lang="en-US" altLang="zh-CN" sz="2400"/>
              <a:t>()</a:t>
            </a:r>
            <a:r>
              <a:rPr lang="zh-CN" altLang="en-US" sz="2400"/>
              <a:t>：创建一个空字典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Search</a:t>
            </a:r>
            <a:r>
              <a:rPr lang="en-US" altLang="zh-CN" sz="2400"/>
              <a:t>(</a:t>
            </a:r>
            <a:r>
              <a:rPr lang="en-US" altLang="zh-CN" sz="2400" i="1"/>
              <a:t>k</a:t>
            </a:r>
            <a:r>
              <a:rPr lang="en-US" altLang="zh-CN" sz="2400"/>
              <a:t>, 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：搜索关键字为</a:t>
            </a:r>
            <a:r>
              <a:rPr lang="en-US" altLang="zh-CN" sz="2400" i="1"/>
              <a:t>k</a:t>
            </a:r>
            <a:r>
              <a:rPr lang="zh-CN" altLang="en-US" sz="2400"/>
              <a:t>的元素，结果放入</a:t>
            </a:r>
            <a:r>
              <a:rPr lang="en-US" altLang="zh-CN" sz="2400" i="1"/>
              <a:t>x</a:t>
            </a:r>
            <a:r>
              <a:rPr lang="zh-CN" altLang="en-US" sz="2400"/>
              <a:t>；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			如果没找到，则返回</a:t>
            </a:r>
            <a:r>
              <a:rPr lang="en-US" altLang="zh-CN" sz="2400" i="1"/>
              <a:t>false</a:t>
            </a:r>
            <a:r>
              <a:rPr lang="zh-CN" altLang="en-US" sz="2400"/>
              <a:t>，否则返回</a:t>
            </a:r>
            <a:r>
              <a:rPr lang="en-US" altLang="zh-CN" sz="2400"/>
              <a:t>true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i="1"/>
              <a:t>	Insert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：向字典中插入元素</a:t>
            </a:r>
            <a:r>
              <a:rPr lang="en-US" altLang="zh-CN" sz="2400" i="1"/>
              <a:t>x</a:t>
            </a:r>
            <a:endParaRPr lang="en-US" altLang="zh-CN" sz="24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i="1"/>
              <a:t>	Delete</a:t>
            </a:r>
            <a:r>
              <a:rPr lang="en-US" altLang="zh-CN" sz="2400"/>
              <a:t>(</a:t>
            </a:r>
            <a:r>
              <a:rPr lang="en-US" altLang="zh-CN" sz="2400" i="1"/>
              <a:t>k</a:t>
            </a:r>
            <a:r>
              <a:rPr lang="en-US" altLang="zh-CN" sz="2400"/>
              <a:t>, 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：删除关键字为</a:t>
            </a:r>
            <a:r>
              <a:rPr lang="en-US" altLang="zh-CN" sz="2400" i="1"/>
              <a:t>k</a:t>
            </a:r>
            <a:r>
              <a:rPr lang="zh-CN" altLang="en-US" sz="2400"/>
              <a:t>的元素，并将其放入</a:t>
            </a:r>
            <a:r>
              <a:rPr lang="en-US" altLang="zh-CN" sz="2400" i="1"/>
              <a:t>x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字典操作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随机访问，</a:t>
            </a:r>
            <a:r>
              <a:rPr lang="en-US" altLang="zh-CN">
                <a:solidFill>
                  <a:schemeClr val="hlink"/>
                </a:solidFill>
              </a:rPr>
              <a:t>random access</a:t>
            </a:r>
          </a:p>
          <a:p>
            <a:r>
              <a:rPr lang="zh-CN" altLang="en-US"/>
              <a:t>顺序访问，</a:t>
            </a:r>
            <a:r>
              <a:rPr lang="en-US" altLang="zh-CN">
                <a:solidFill>
                  <a:schemeClr val="hlink"/>
                </a:solidFill>
              </a:rPr>
              <a:t>sequential access</a:t>
            </a:r>
          </a:p>
          <a:p>
            <a:pPr lvl="1"/>
            <a:r>
              <a:rPr lang="en-US" altLang="zh-CN"/>
              <a:t>Begin</a:t>
            </a:r>
            <a:r>
              <a:rPr lang="zh-CN" altLang="en-US"/>
              <a:t>，</a:t>
            </a:r>
            <a:r>
              <a:rPr lang="en-US" altLang="zh-CN"/>
              <a:t>Next</a:t>
            </a:r>
          </a:p>
          <a:p>
            <a:r>
              <a:rPr lang="zh-CN" altLang="en-US"/>
              <a:t>重要的操作方式是“按关键字访问”</a:t>
            </a:r>
          </a:p>
          <a:p>
            <a:r>
              <a:rPr lang="zh-CN" altLang="en-US"/>
              <a:t>需注意的一个问题：重复关键字</a:t>
            </a:r>
          </a:p>
          <a:p>
            <a:pPr lvl="1"/>
            <a:r>
              <a:rPr lang="zh-CN" altLang="en-US"/>
              <a:t>如何消除歧义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字典例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r>
              <a:rPr lang="zh-CN" altLang="en-US"/>
              <a:t>一个班注册学习数据结构课程的学生</a:t>
            </a:r>
          </a:p>
          <a:p>
            <a:pPr lvl="1"/>
            <a:r>
              <a:rPr lang="zh-CN" altLang="en-US"/>
              <a:t>新学生注册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zh-CN" altLang="en-US"/>
              <a:t>在字典中插入相关的元素</a:t>
            </a:r>
            <a:r>
              <a:rPr lang="en-US" altLang="zh-CN"/>
              <a:t>(</a:t>
            </a:r>
            <a:r>
              <a:rPr lang="zh-CN" altLang="en-US"/>
              <a:t>记录</a:t>
            </a:r>
            <a:r>
              <a:rPr lang="en-US" altLang="zh-CN"/>
              <a:t>)</a:t>
            </a:r>
          </a:p>
          <a:p>
            <a:pPr lvl="1"/>
            <a:r>
              <a:rPr lang="zh-CN" altLang="en-US"/>
              <a:t>放弃这门课程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zh-CN" altLang="en-US"/>
              <a:t>删除对应记录</a:t>
            </a:r>
          </a:p>
          <a:p>
            <a:pPr lvl="1"/>
            <a:r>
              <a:rPr lang="zh-CN" altLang="en-US"/>
              <a:t>查询字典</a:t>
            </a:r>
            <a:r>
              <a:rPr lang="zh-CN" altLang="en-US">
                <a:sym typeface="Wingdings" panose="05000000000000000000" pitchFamily="2" charset="2"/>
              </a:rPr>
              <a:t>获取</a:t>
            </a:r>
            <a:r>
              <a:rPr lang="zh-CN" altLang="en-US"/>
              <a:t>特定学生相关的记录或修改记录</a:t>
            </a:r>
          </a:p>
          <a:p>
            <a:pPr lvl="1"/>
            <a:r>
              <a:rPr lang="zh-CN" altLang="en-US"/>
              <a:t>学生的姓名域可作为关键字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字典例（续）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r>
              <a:rPr lang="zh-CN" altLang="en-US"/>
              <a:t>在编译器中定义用户标识符的符号表（</a:t>
            </a:r>
            <a:r>
              <a:rPr lang="en-US" altLang="zh-CN">
                <a:solidFill>
                  <a:schemeClr val="hlink"/>
                </a:solidFill>
              </a:rPr>
              <a:t>symbol table</a:t>
            </a:r>
            <a:r>
              <a:rPr lang="zh-CN" altLang="en-US"/>
              <a:t>）</a:t>
            </a:r>
            <a:r>
              <a:rPr lang="en-US" altLang="zh-CN"/>
              <a:t>——</a:t>
            </a:r>
            <a:r>
              <a:rPr lang="zh-CN" altLang="en-US"/>
              <a:t>重复元素字典</a:t>
            </a:r>
          </a:p>
          <a:p>
            <a:pPr lvl="1"/>
            <a:r>
              <a:rPr lang="zh-CN" altLang="en-US"/>
              <a:t>定义标识符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zh-CN" altLang="en-US"/>
              <a:t>建立一个记录并插入到符号表中</a:t>
            </a:r>
          </a:p>
          <a:p>
            <a:pPr lvl="1"/>
            <a:r>
              <a:rPr lang="zh-CN" altLang="en-US"/>
              <a:t>同样的标识符名可以定义多次</a:t>
            </a:r>
            <a:r>
              <a:rPr lang="en-US" altLang="zh-CN"/>
              <a:t>(</a:t>
            </a:r>
            <a:r>
              <a:rPr lang="zh-CN" altLang="en-US"/>
              <a:t>在不同的程序块中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相同关键字的记录</a:t>
            </a:r>
          </a:p>
          <a:p>
            <a:pPr lvl="1"/>
            <a:r>
              <a:rPr lang="zh-CN" altLang="en-US"/>
              <a:t>搜索结果</a:t>
            </a:r>
            <a:r>
              <a:rPr lang="en-US" altLang="zh-CN"/>
              <a:t>——</a:t>
            </a:r>
            <a:r>
              <a:rPr lang="zh-CN" altLang="en-US"/>
              <a:t>最新插入的元素</a:t>
            </a:r>
          </a:p>
          <a:p>
            <a:pPr lvl="1"/>
            <a:r>
              <a:rPr lang="zh-CN" altLang="en-US"/>
              <a:t>删除</a:t>
            </a:r>
            <a:r>
              <a:rPr lang="en-US" altLang="zh-CN"/>
              <a:t>——</a:t>
            </a:r>
            <a:r>
              <a:rPr lang="zh-CN" altLang="en-US"/>
              <a:t>程序块的结尾（标识符作用域结束）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8A062D-4A82-4CC2-9CA8-E4BF4AD10132}" type="slidenum">
              <a:rPr lang="en-US" altLang="en-US">
                <a:solidFill>
                  <a:srgbClr val="4B4B4B"/>
                </a:solidFill>
              </a:rPr>
              <a:t>7</a:t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0725" name="Picture 2" descr="http://ts.gdm.cn/Editor/UploadFile/200704025273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379413"/>
            <a:ext cx="28797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4" descr="http://www.taoq.com/bbs/attachments/month_0709/20070918_53f692865b6cb75fd1c1CJCiYW4mhRIq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1635125"/>
            <a:ext cx="36004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字典的线性表描述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(e</a:t>
            </a:r>
            <a:r>
              <a:rPr lang="en-US" altLang="zh-CN" baseline="-25000"/>
              <a:t>1</a:t>
            </a:r>
            <a:r>
              <a:rPr lang="en-US" altLang="zh-CN"/>
              <a:t>, e</a:t>
            </a:r>
            <a:r>
              <a:rPr lang="en-US" altLang="zh-CN" baseline="-25000"/>
              <a:t>2</a:t>
            </a:r>
            <a:r>
              <a:rPr lang="en-US" altLang="zh-CN"/>
              <a:t>, ..., )</a:t>
            </a:r>
          </a:p>
          <a:p>
            <a:pPr lvl="1"/>
            <a:r>
              <a:rPr lang="en-US" altLang="zh-CN"/>
              <a:t>e</a:t>
            </a:r>
            <a:r>
              <a:rPr lang="en-US" altLang="zh-CN" baseline="-25000"/>
              <a:t>i</a:t>
            </a:r>
            <a:r>
              <a:rPr lang="zh-CN" altLang="en-US"/>
              <a:t>：字典元素，关键字升序排列</a:t>
            </a:r>
          </a:p>
          <a:p>
            <a:r>
              <a:rPr lang="zh-CN" altLang="en-US"/>
              <a:t>公式化描述</a:t>
            </a:r>
          </a:p>
          <a:p>
            <a:pPr lvl="1"/>
            <a:r>
              <a:rPr lang="zh-CN" altLang="en-US"/>
              <a:t>搜索操作：二分搜索，</a:t>
            </a:r>
            <a:r>
              <a:rPr lang="en-US" altLang="zh-CN"/>
              <a:t>O(logn)</a:t>
            </a:r>
          </a:p>
          <a:p>
            <a:pPr lvl="1"/>
            <a:r>
              <a:rPr lang="zh-CN" altLang="en-US"/>
              <a:t>插入、删除操作：需数据移动，</a:t>
            </a:r>
            <a:r>
              <a:rPr lang="en-US" altLang="zh-CN"/>
              <a:t>O(n)</a:t>
            </a:r>
          </a:p>
          <a:p>
            <a:r>
              <a:rPr lang="zh-CN" altLang="en-US"/>
              <a:t>链表描述</a:t>
            </a:r>
          </a:p>
          <a:p>
            <a:pPr lvl="1"/>
            <a:r>
              <a:rPr lang="zh-CN" altLang="en-US"/>
              <a:t>搜索、插入、删除均为</a:t>
            </a:r>
            <a:r>
              <a:rPr lang="en-US" altLang="zh-CN"/>
              <a:t>O(n)</a:t>
            </a:r>
          </a:p>
        </p:txBody>
      </p:sp>
      <p:sp>
        <p:nvSpPr>
          <p:cNvPr id="4" name="矩形 3"/>
          <p:cNvSpPr/>
          <p:nvPr/>
        </p:nvSpPr>
        <p:spPr>
          <a:xfrm>
            <a:off x="1163628" y="5222880"/>
            <a:ext cx="6892166" cy="92333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能否提高？如何提高？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SortedChain</a:t>
            </a:r>
            <a:r>
              <a:rPr lang="zh-CN" altLang="en-US"/>
              <a:t>类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</a:rPr>
              <a:t>SortedChain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SortedChain() {first = 0;}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~SortedChain();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bool IsEmpty() const {return first == 0;}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int Length() const;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bool 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</a:rPr>
              <a:t>Search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(const K&amp; k, E&amp; e) const;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SortedChain&lt;E,K&gt;&amp; 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</a:rPr>
              <a:t>Delete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(const K&amp; k, E&amp; e);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SortedChain&lt;E,K&gt;&amp; 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</a:rPr>
              <a:t>Insert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(const E&amp; e);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SortedChain&lt;E,K&gt;&amp; 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</a:rPr>
              <a:t>DistinctInsert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(const E&amp; e);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void Output(ostream&amp; out) const;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FF0000"/>
                </a:solidFill>
                <a:latin typeface="Tahoma" panose="020B0604030504040204" pitchFamily="34" charset="0"/>
              </a:rPr>
              <a:t>SortedChainNode&lt;E,K&gt; *first;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搜索操作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bool SortedChain&lt;E,K&gt;::Search(const K&amp; k, E&amp; e) const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SortedChainNode&lt;E,K&gt; *p = first;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while (p &amp;&amp; p-&gt;data &lt; k)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p = p-&gt;link;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判断是否匹配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(p &amp;&amp; p-&gt;data == k)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如果链表尚不为空且数据匹配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{e = p-&gt;data; return true;}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return false;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链表已经为空，或当前数据大于</a:t>
            </a:r>
            <a:r>
              <a:rPr lang="en-US" altLang="zh-CN" sz="2000" b="0" i="1">
                <a:solidFill>
                  <a:srgbClr val="008000"/>
                </a:solidFill>
                <a:latin typeface="Tahoma" panose="020B0604030504040204" pitchFamily="34" charset="0"/>
              </a:rPr>
              <a:t>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33796" name="TextBox 3"/>
          <p:cNvSpPr txBox="1">
            <a:spLocks noChangeArrowheads="1"/>
          </p:cNvSpPr>
          <p:nvPr/>
        </p:nvSpPr>
        <p:spPr bwMode="auto">
          <a:xfrm>
            <a:off x="4751388" y="3070225"/>
            <a:ext cx="4125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等价于</a:t>
            </a:r>
            <a:r>
              <a:rPr lang="en-US" altLang="zh-CN"/>
              <a:t>for( </a:t>
            </a:r>
            <a:r>
              <a:rPr lang="en-US" altLang="zh-CN" b="1">
                <a:solidFill>
                  <a:srgbClr val="FF0000"/>
                </a:solidFill>
              </a:rPr>
              <a:t>; </a:t>
            </a:r>
            <a:r>
              <a:rPr lang="en-US" altLang="zh-CN"/>
              <a:t>p&amp;&amp;p-&gt;data&lt;k </a:t>
            </a:r>
            <a:r>
              <a:rPr lang="en-US" altLang="zh-CN" b="1">
                <a:solidFill>
                  <a:srgbClr val="FF0000"/>
                </a:solidFill>
              </a:rPr>
              <a:t>; </a:t>
            </a:r>
            <a:r>
              <a:rPr lang="en-US" altLang="zh-CN"/>
              <a:t>p=p-&gt;k) </a:t>
            </a:r>
            <a:r>
              <a:rPr lang="en-US" altLang="zh-CN" b="1">
                <a:solidFill>
                  <a:srgbClr val="FF0000"/>
                </a:solidFill>
              </a:rPr>
              <a:t>;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删除操作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SortedChain&lt;E,K&gt;&amp; SortedChain&lt;E,K&gt;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::Delete(const K&amp; k, E&amp; e)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SortedChainNode&lt;E,K&gt; *p = first, *tp = 0;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search for match with 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while (p &amp;&amp; p-&gt;data &lt; k)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tp =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p = p-&gt;link;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/>
          </a:p>
        </p:txBody>
      </p:sp>
      <p:cxnSp>
        <p:nvCxnSpPr>
          <p:cNvPr id="34820" name="直接箭头连接符 4"/>
          <p:cNvCxnSpPr>
            <a:cxnSpLocks noChangeShapeType="1"/>
          </p:cNvCxnSpPr>
          <p:nvPr/>
        </p:nvCxnSpPr>
        <p:spPr bwMode="auto">
          <a:xfrm rot="10800000">
            <a:off x="4572000" y="3249613"/>
            <a:ext cx="538163" cy="3587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1" name="TextBox 5"/>
          <p:cNvSpPr txBox="1">
            <a:spLocks noChangeArrowheads="1"/>
          </p:cNvSpPr>
          <p:nvPr/>
        </p:nvSpPr>
        <p:spPr bwMode="auto">
          <a:xfrm>
            <a:off x="4751388" y="3608388"/>
            <a:ext cx="1076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FF0000"/>
                </a:solidFill>
              </a:rPr>
              <a:t>用于移动</a:t>
            </a:r>
          </a:p>
        </p:txBody>
      </p:sp>
      <p:cxnSp>
        <p:nvCxnSpPr>
          <p:cNvPr id="34822" name="直接箭头连接符 6"/>
          <p:cNvCxnSpPr>
            <a:cxnSpLocks noChangeShapeType="1"/>
          </p:cNvCxnSpPr>
          <p:nvPr/>
        </p:nvCxnSpPr>
        <p:spPr bwMode="auto">
          <a:xfrm rot="10800000">
            <a:off x="6007100" y="3249613"/>
            <a:ext cx="538163" cy="3587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3" name="TextBox 7"/>
          <p:cNvSpPr txBox="1">
            <a:spLocks noChangeArrowheads="1"/>
          </p:cNvSpPr>
          <p:nvPr/>
        </p:nvSpPr>
        <p:spPr bwMode="auto">
          <a:xfrm>
            <a:off x="6007100" y="3608388"/>
            <a:ext cx="25114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FF0000"/>
                </a:solidFill>
              </a:rPr>
              <a:t>用于记录</a:t>
            </a:r>
            <a:r>
              <a:rPr lang="en-US" altLang="zh-CN" sz="1600" b="1">
                <a:solidFill>
                  <a:srgbClr val="FF0000"/>
                </a:solidFill>
              </a:rPr>
              <a:t>p</a:t>
            </a:r>
            <a:r>
              <a:rPr lang="zh-CN" altLang="en-US" sz="1600" b="1">
                <a:solidFill>
                  <a:srgbClr val="FF0000"/>
                </a:solidFill>
              </a:rPr>
              <a:t>的前一位置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删除操作（续）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if (p &amp;&amp; p-&gt;data == k)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找到了要删的节点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{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e = p-&gt;data;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if (tp)  tp-&gt;link = p-&gt;link;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//p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是普通节点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else first = p-&gt;link;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//p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是首节点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delete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return *this;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throw BadInput(); 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没有可删的节点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return *this;    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110163" y="5402263"/>
            <a:ext cx="358775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110163" y="5043488"/>
            <a:ext cx="358775" cy="3603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27713" y="5402263"/>
            <a:ext cx="358775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827713" y="5043488"/>
            <a:ext cx="358775" cy="3603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545263" y="5402263"/>
            <a:ext cx="358775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545263" y="5043488"/>
            <a:ext cx="358775" cy="3603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262813" y="5402263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262813" y="5043488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980363" y="5402263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7980363" y="5043488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675063" y="5402263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3675063" y="5043488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4392613" y="5402263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4392613" y="5043488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5858" name="TextBox 20"/>
          <p:cNvSpPr txBox="1">
            <a:spLocks noChangeArrowheads="1"/>
          </p:cNvSpPr>
          <p:nvPr/>
        </p:nvSpPr>
        <p:spPr bwMode="auto">
          <a:xfrm>
            <a:off x="5827713" y="5570538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FF0000"/>
                </a:solidFill>
              </a:rPr>
              <a:t>k</a:t>
            </a:r>
            <a:endParaRPr lang="zh-CN" altLang="en-US" i="1">
              <a:solidFill>
                <a:srgbClr val="FF0000"/>
              </a:solidFill>
            </a:endParaRPr>
          </a:p>
        </p:txBody>
      </p:sp>
      <p:cxnSp>
        <p:nvCxnSpPr>
          <p:cNvPr id="35859" name="直接箭头连接符 22"/>
          <p:cNvCxnSpPr>
            <a:cxnSpLocks noChangeShapeType="1"/>
            <a:endCxn id="20" idx="1"/>
          </p:cNvCxnSpPr>
          <p:nvPr/>
        </p:nvCxnSpPr>
        <p:spPr bwMode="auto">
          <a:xfrm>
            <a:off x="3854450" y="5222875"/>
            <a:ext cx="53816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直接箭头连接符 23"/>
          <p:cNvCxnSpPr>
            <a:cxnSpLocks noChangeShapeType="1"/>
          </p:cNvCxnSpPr>
          <p:nvPr/>
        </p:nvCxnSpPr>
        <p:spPr bwMode="auto">
          <a:xfrm>
            <a:off x="4572000" y="5222875"/>
            <a:ext cx="53816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1" name="直接箭头连接符 24"/>
          <p:cNvCxnSpPr>
            <a:cxnSpLocks noChangeShapeType="1"/>
          </p:cNvCxnSpPr>
          <p:nvPr/>
        </p:nvCxnSpPr>
        <p:spPr bwMode="auto">
          <a:xfrm>
            <a:off x="6724650" y="5222875"/>
            <a:ext cx="53816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2" name="直接箭头连接符 25"/>
          <p:cNvCxnSpPr>
            <a:cxnSpLocks noChangeShapeType="1"/>
          </p:cNvCxnSpPr>
          <p:nvPr/>
        </p:nvCxnSpPr>
        <p:spPr bwMode="auto">
          <a:xfrm>
            <a:off x="7442200" y="5222875"/>
            <a:ext cx="53816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直接箭头连接符 26"/>
          <p:cNvCxnSpPr>
            <a:cxnSpLocks noChangeShapeType="1"/>
          </p:cNvCxnSpPr>
          <p:nvPr/>
        </p:nvCxnSpPr>
        <p:spPr bwMode="auto">
          <a:xfrm>
            <a:off x="5289550" y="5222875"/>
            <a:ext cx="538163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prstDash val="dash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4" name="直接箭头连接符 27"/>
          <p:cNvCxnSpPr>
            <a:cxnSpLocks noChangeShapeType="1"/>
          </p:cNvCxnSpPr>
          <p:nvPr/>
        </p:nvCxnSpPr>
        <p:spPr bwMode="auto">
          <a:xfrm>
            <a:off x="6007100" y="5222875"/>
            <a:ext cx="538163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prstDash val="dash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5" name="直接箭头连接符 29"/>
          <p:cNvCxnSpPr>
            <a:cxnSpLocks noChangeShapeType="1"/>
            <a:endCxn id="5" idx="0"/>
          </p:cNvCxnSpPr>
          <p:nvPr/>
        </p:nvCxnSpPr>
        <p:spPr bwMode="auto">
          <a:xfrm rot="16200000" flipH="1">
            <a:off x="4661694" y="4415632"/>
            <a:ext cx="1076325" cy="1793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6" name="TextBox 31"/>
          <p:cNvSpPr txBox="1">
            <a:spLocks noChangeArrowheads="1"/>
          </p:cNvSpPr>
          <p:nvPr/>
        </p:nvSpPr>
        <p:spPr bwMode="auto">
          <a:xfrm>
            <a:off x="4751388" y="360838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CC"/>
                </a:solidFill>
              </a:rPr>
              <a:t>tp</a:t>
            </a:r>
            <a:endParaRPr lang="zh-CN" altLang="en-US" b="1" i="1">
              <a:solidFill>
                <a:srgbClr val="0000CC"/>
              </a:solidFill>
            </a:endParaRPr>
          </a:p>
        </p:txBody>
      </p:sp>
      <p:cxnSp>
        <p:nvCxnSpPr>
          <p:cNvPr id="35867" name="直接箭头连接符 32"/>
          <p:cNvCxnSpPr>
            <a:cxnSpLocks noChangeShapeType="1"/>
          </p:cNvCxnSpPr>
          <p:nvPr/>
        </p:nvCxnSpPr>
        <p:spPr bwMode="auto">
          <a:xfrm rot="16200000" flipH="1">
            <a:off x="5379244" y="4415632"/>
            <a:ext cx="1076325" cy="1793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8" name="TextBox 33"/>
          <p:cNvSpPr txBox="1">
            <a:spLocks noChangeArrowheads="1"/>
          </p:cNvSpPr>
          <p:nvPr/>
        </p:nvSpPr>
        <p:spPr bwMode="auto">
          <a:xfrm>
            <a:off x="5468938" y="360838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CC"/>
                </a:solidFill>
              </a:rPr>
              <a:t>p</a:t>
            </a:r>
            <a:endParaRPr lang="zh-CN" altLang="en-US" b="1" i="1">
              <a:solidFill>
                <a:srgbClr val="0000CC"/>
              </a:solidFill>
            </a:endParaRPr>
          </a:p>
        </p:txBody>
      </p:sp>
      <p:cxnSp>
        <p:nvCxnSpPr>
          <p:cNvPr id="35869" name="形状 41"/>
          <p:cNvCxnSpPr>
            <a:cxnSpLocks noChangeShapeType="1"/>
            <a:endCxn id="9" idx="0"/>
          </p:cNvCxnSpPr>
          <p:nvPr/>
        </p:nvCxnSpPr>
        <p:spPr bwMode="auto">
          <a:xfrm flipV="1">
            <a:off x="5289550" y="5043488"/>
            <a:ext cx="1435100" cy="179387"/>
          </a:xfrm>
          <a:prstGeom prst="bentConnector4">
            <a:avLst>
              <a:gd name="adj1" fmla="val 37"/>
              <a:gd name="adj2" fmla="val 227435"/>
            </a:avLst>
          </a:prstGeom>
          <a:noFill/>
          <a:ln w="19050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插入操作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SortedChain&lt;E,K&gt;&amp; SortedChain&lt;E,K&gt;::Insert(const E&amp; e)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SortedChainNode&lt;E,K&gt; *p = first,  *tp = 0;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while (p &amp;&amp; p-&gt;data &lt; e)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tp =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p = p-&gt;link;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b="0">
                <a:solidFill>
                  <a:srgbClr val="0000FF"/>
                </a:solidFill>
                <a:latin typeface="Tahoma" panose="020B0604030504040204" pitchFamily="34" charset="0"/>
              </a:rPr>
              <a:t>SortedChainNode&lt;E,K&gt; *q =</a:t>
            </a:r>
            <a:r>
              <a:rPr lang="en-US" altLang="zh-CN" sz="2000" b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b="0">
                <a:solidFill>
                  <a:srgbClr val="0000FF"/>
                </a:solidFill>
                <a:latin typeface="Tahoma" panose="020B0604030504040204" pitchFamily="34" charset="0"/>
              </a:rPr>
              <a:t>new SortedChainNode&lt;E,K&gt;;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q-&gt;data = 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q-&gt;link =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(tp) tp-&gt;link = q;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else first = q;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return *this;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5648325" y="5043488"/>
            <a:ext cx="358775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648325" y="4684713"/>
            <a:ext cx="358775" cy="3603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186488" y="6119813"/>
            <a:ext cx="358775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186488" y="5761038"/>
            <a:ext cx="358775" cy="3603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724650" y="5043488"/>
            <a:ext cx="358775" cy="5381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724650" y="4684713"/>
            <a:ext cx="358775" cy="3603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442200" y="5043488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442200" y="4684713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8159750" y="5043488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59750" y="4684713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4213225" y="5043488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213225" y="4684713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930775" y="5043488"/>
            <a:ext cx="358775" cy="5381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4930775" y="4684713"/>
            <a:ext cx="358775" cy="36036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6882" name="TextBox 17"/>
          <p:cNvSpPr txBox="1">
            <a:spLocks noChangeArrowheads="1"/>
          </p:cNvSpPr>
          <p:nvPr/>
        </p:nvSpPr>
        <p:spPr bwMode="auto">
          <a:xfrm>
            <a:off x="6186488" y="6288088"/>
            <a:ext cx="358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FF0000"/>
                </a:solidFill>
              </a:rPr>
              <a:t>e</a:t>
            </a:r>
            <a:endParaRPr lang="zh-CN" altLang="en-US" i="1">
              <a:solidFill>
                <a:srgbClr val="FF0000"/>
              </a:solidFill>
            </a:endParaRPr>
          </a:p>
        </p:txBody>
      </p:sp>
      <p:cxnSp>
        <p:nvCxnSpPr>
          <p:cNvPr id="36883" name="直接箭头连接符 18"/>
          <p:cNvCxnSpPr>
            <a:cxnSpLocks noChangeShapeType="1"/>
            <a:endCxn id="17" idx="1"/>
          </p:cNvCxnSpPr>
          <p:nvPr/>
        </p:nvCxnSpPr>
        <p:spPr bwMode="auto">
          <a:xfrm>
            <a:off x="4392613" y="4864100"/>
            <a:ext cx="53816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4" name="直接箭头连接符 19"/>
          <p:cNvCxnSpPr>
            <a:cxnSpLocks noChangeShapeType="1"/>
          </p:cNvCxnSpPr>
          <p:nvPr/>
        </p:nvCxnSpPr>
        <p:spPr bwMode="auto">
          <a:xfrm>
            <a:off x="5110163" y="4864100"/>
            <a:ext cx="53816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5" name="直接箭头连接符 20"/>
          <p:cNvCxnSpPr>
            <a:cxnSpLocks noChangeShapeType="1"/>
          </p:cNvCxnSpPr>
          <p:nvPr/>
        </p:nvCxnSpPr>
        <p:spPr bwMode="auto">
          <a:xfrm>
            <a:off x="6904038" y="4864100"/>
            <a:ext cx="53816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6" name="直接箭头连接符 21"/>
          <p:cNvCxnSpPr>
            <a:cxnSpLocks noChangeShapeType="1"/>
          </p:cNvCxnSpPr>
          <p:nvPr/>
        </p:nvCxnSpPr>
        <p:spPr bwMode="auto">
          <a:xfrm>
            <a:off x="7621588" y="4864100"/>
            <a:ext cx="53816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7" name="直接箭头连接符 22"/>
          <p:cNvCxnSpPr>
            <a:cxnSpLocks noChangeShapeType="1"/>
            <a:endCxn id="9" idx="1"/>
          </p:cNvCxnSpPr>
          <p:nvPr/>
        </p:nvCxnSpPr>
        <p:spPr bwMode="auto">
          <a:xfrm>
            <a:off x="5827713" y="4864100"/>
            <a:ext cx="896937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prstDash val="dash"/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8" name="直接箭头连接符 24"/>
          <p:cNvCxnSpPr>
            <a:cxnSpLocks noChangeShapeType="1"/>
            <a:endCxn id="5" idx="0"/>
          </p:cNvCxnSpPr>
          <p:nvPr/>
        </p:nvCxnSpPr>
        <p:spPr bwMode="auto">
          <a:xfrm rot="16200000" flipH="1">
            <a:off x="5199856" y="4056857"/>
            <a:ext cx="1076325" cy="1793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9" name="TextBox 25"/>
          <p:cNvSpPr txBox="1">
            <a:spLocks noChangeArrowheads="1"/>
          </p:cNvSpPr>
          <p:nvPr/>
        </p:nvSpPr>
        <p:spPr bwMode="auto">
          <a:xfrm>
            <a:off x="5289550" y="3249613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CC"/>
                </a:solidFill>
              </a:rPr>
              <a:t>tp</a:t>
            </a:r>
            <a:endParaRPr lang="zh-CN" altLang="en-US" b="1" i="1">
              <a:solidFill>
                <a:srgbClr val="0000CC"/>
              </a:solidFill>
            </a:endParaRPr>
          </a:p>
        </p:txBody>
      </p:sp>
      <p:cxnSp>
        <p:nvCxnSpPr>
          <p:cNvPr id="36890" name="直接箭头连接符 26"/>
          <p:cNvCxnSpPr>
            <a:cxnSpLocks noChangeShapeType="1"/>
          </p:cNvCxnSpPr>
          <p:nvPr/>
        </p:nvCxnSpPr>
        <p:spPr bwMode="auto">
          <a:xfrm rot="16200000" flipH="1">
            <a:off x="6276181" y="4056857"/>
            <a:ext cx="1076325" cy="1793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91" name="TextBox 27"/>
          <p:cNvSpPr txBox="1">
            <a:spLocks noChangeArrowheads="1"/>
          </p:cNvSpPr>
          <p:nvPr/>
        </p:nvSpPr>
        <p:spPr bwMode="auto">
          <a:xfrm>
            <a:off x="6365875" y="3249613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CC"/>
                </a:solidFill>
              </a:rPr>
              <a:t>p</a:t>
            </a:r>
            <a:endParaRPr lang="zh-CN" altLang="en-US" b="1" i="1">
              <a:solidFill>
                <a:srgbClr val="0000CC"/>
              </a:solidFill>
            </a:endParaRPr>
          </a:p>
        </p:txBody>
      </p:sp>
      <p:cxnSp>
        <p:nvCxnSpPr>
          <p:cNvPr id="36892" name="直接箭头连接符 36"/>
          <p:cNvCxnSpPr>
            <a:cxnSpLocks noChangeShapeType="1"/>
            <a:endCxn id="9" idx="1"/>
          </p:cNvCxnSpPr>
          <p:nvPr/>
        </p:nvCxnSpPr>
        <p:spPr bwMode="auto">
          <a:xfrm rot="5400000" flipH="1" flipV="1">
            <a:off x="6007100" y="5222875"/>
            <a:ext cx="1076325" cy="3587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93" name="直接箭头连接符 37"/>
          <p:cNvCxnSpPr>
            <a:cxnSpLocks noChangeShapeType="1"/>
          </p:cNvCxnSpPr>
          <p:nvPr/>
        </p:nvCxnSpPr>
        <p:spPr bwMode="auto">
          <a:xfrm rot="16200000" flipH="1">
            <a:off x="5468938" y="5222875"/>
            <a:ext cx="1076325" cy="3587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94" name="直接箭头连接符 38"/>
          <p:cNvCxnSpPr>
            <a:cxnSpLocks noChangeShapeType="1"/>
          </p:cNvCxnSpPr>
          <p:nvPr/>
        </p:nvCxnSpPr>
        <p:spPr bwMode="auto">
          <a:xfrm>
            <a:off x="5648325" y="5940425"/>
            <a:ext cx="538163" cy="0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95" name="TextBox 39"/>
          <p:cNvSpPr txBox="1">
            <a:spLocks noChangeArrowheads="1"/>
          </p:cNvSpPr>
          <p:nvPr/>
        </p:nvSpPr>
        <p:spPr bwMode="auto">
          <a:xfrm>
            <a:off x="5110163" y="5749925"/>
            <a:ext cx="717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CC"/>
                </a:solidFill>
              </a:rPr>
              <a:t>q</a:t>
            </a:r>
            <a:endParaRPr lang="zh-CN" altLang="en-US" b="1" i="1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不允许重复关键字的插入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SortedChain&lt;E,K&gt;&amp; SortedChain&lt;E,K&gt;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::DistinctInsert(const E&amp; e)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Insert e only if no element with same key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SortedChainNode&lt;E,K&gt; *p = first, *tp = 0; 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while (p &amp;&amp; p-&gt;data &lt; e)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tp =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p = p-&gt;link;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}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不允许重复关键字的插入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check if duplicate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if (p &amp;&amp; p-&gt;data == e) throw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BadInput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not duplicate, set up node for e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b="0" dirty="0" err="1">
                <a:solidFill>
                  <a:srgbClr val="0000FF"/>
                </a:solidFill>
                <a:latin typeface="Tahoma" panose="020B0604030504040204" pitchFamily="34" charset="0"/>
              </a:rPr>
              <a:t>SortedChainNode</a:t>
            </a:r>
            <a:r>
              <a:rPr lang="en-US" altLang="zh-CN" sz="2000" b="0" dirty="0">
                <a:solidFill>
                  <a:srgbClr val="0000FF"/>
                </a:solidFill>
                <a:latin typeface="Tahoma" panose="020B0604030504040204" pitchFamily="34" charset="0"/>
              </a:rPr>
              <a:t>&lt;E,K&gt; *q =</a:t>
            </a:r>
            <a:r>
              <a:rPr lang="en-US" altLang="zh-CN" sz="2000" b="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b="0" dirty="0">
                <a:solidFill>
                  <a:srgbClr val="0000FF"/>
                </a:solidFill>
                <a:latin typeface="Tahoma" panose="020B0604030504040204" pitchFamily="34" charset="0"/>
              </a:rPr>
              <a:t>new </a:t>
            </a:r>
            <a:r>
              <a:rPr lang="en-US" altLang="zh-CN" sz="2000" b="0" dirty="0" err="1">
                <a:solidFill>
                  <a:srgbClr val="0000FF"/>
                </a:solidFill>
                <a:latin typeface="Tahoma" panose="020B0604030504040204" pitchFamily="34" charset="0"/>
              </a:rPr>
              <a:t>SortedChainNode</a:t>
            </a:r>
            <a:r>
              <a:rPr lang="en-US" altLang="zh-CN" sz="2000" b="0" dirty="0">
                <a:solidFill>
                  <a:srgbClr val="0000FF"/>
                </a:solidFill>
                <a:latin typeface="Tahoma" panose="020B0604030504040204" pitchFamily="34" charset="0"/>
              </a:rPr>
              <a:t>&lt;E,K&gt;;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q-&gt;data = 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insert node just after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</a:rPr>
              <a:t>tp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q-&gt;link =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tp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tp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-&gt;link = q;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else first = q;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return *this;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字典（有序表）的定义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散列表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定义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散列函数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解决冲突的方法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开地址法：线性、双散列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链表法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50176C-FF6C-4C75-90BC-D9016A89E548}" type="slidenum">
              <a:rPr lang="en-US" altLang="en-US">
                <a:solidFill>
                  <a:srgbClr val="4B4B4B"/>
                </a:solidFill>
              </a:rPr>
              <a:t>16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H1.</a:t>
            </a:r>
            <a:r>
              <a:rPr lang="zh-CN" altLang="en-US"/>
              <a:t>散列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散列法（</a:t>
            </a:r>
            <a:r>
              <a:rPr lang="en-US" altLang="zh-CN"/>
              <a:t>Hash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哈希法、杂凑法</a:t>
            </a:r>
            <a:endParaRPr lang="en-US" altLang="zh-CN"/>
          </a:p>
          <a:p>
            <a:pPr lvl="1"/>
            <a:r>
              <a:rPr lang="zh-CN" altLang="en-US"/>
              <a:t>在表项的存储位置与表项关键字之间建立一个确定的对应函数关系</a:t>
            </a:r>
            <a:r>
              <a:rPr lang="en-US" altLang="zh-CN"/>
              <a:t>Hash()</a:t>
            </a:r>
            <a:r>
              <a:rPr lang="zh-CN" altLang="en-US"/>
              <a:t>，使每个关键字值与结构中的一个唯一的存储位置相对应</a:t>
            </a:r>
            <a:endParaRPr lang="en-US" altLang="zh-CN"/>
          </a:p>
          <a:p>
            <a:pPr lvl="1">
              <a:buFont typeface="Arial" panose="020B0604020202020204" pitchFamily="34" charset="0"/>
              <a:buNone/>
            </a:pPr>
            <a:r>
              <a:rPr lang="en-US" altLang="zh-CN" i="1"/>
              <a:t>       </a:t>
            </a:r>
            <a:r>
              <a:rPr lang="en-US" altLang="zh-CN" i="1">
                <a:solidFill>
                  <a:srgbClr val="FF0000"/>
                </a:solidFill>
              </a:rPr>
              <a:t>Address = Hash(key)</a:t>
            </a:r>
          </a:p>
          <a:p>
            <a:pPr lvl="1"/>
            <a:r>
              <a:rPr lang="zh-CN" altLang="en-US">
                <a:solidFill>
                  <a:srgbClr val="0000CC"/>
                </a:solidFill>
              </a:rPr>
              <a:t>插入时</a:t>
            </a:r>
            <a:r>
              <a:rPr lang="zh-CN" altLang="en-US"/>
              <a:t>，依此函数计算存储位置并按此位置存放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CC"/>
                </a:solidFill>
              </a:rPr>
              <a:t>查找时</a:t>
            </a:r>
            <a:r>
              <a:rPr lang="zh-CN" altLang="en-US"/>
              <a:t>，对元素的关键字进行同样的函数计算，把求得的函数值当做元素的存储位置，在此结构中按此位置取元素比较，若关键字值相等，则查找成功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8D6570-EE00-489E-8EAD-77D8C71070B2}" type="slidenum">
              <a:rPr lang="en-US" altLang="en-US">
                <a:solidFill>
                  <a:srgbClr val="4B4B4B"/>
                </a:solidFill>
              </a:rPr>
              <a:t>17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散列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在散列法中使用的转换函数叫做</a:t>
            </a:r>
            <a:r>
              <a:rPr lang="zh-CN" altLang="en-US">
                <a:solidFill>
                  <a:srgbClr val="0000CC"/>
                </a:solidFill>
              </a:rPr>
              <a:t>散列函数</a:t>
            </a:r>
            <a:endParaRPr lang="en-US" altLang="zh-CN">
              <a:solidFill>
                <a:srgbClr val="0000CC"/>
              </a:solidFill>
            </a:endParaRPr>
          </a:p>
          <a:p>
            <a:r>
              <a:rPr lang="zh-CN" altLang="en-US"/>
              <a:t>按此种思想构造出来的表或结构叫做</a:t>
            </a:r>
            <a:r>
              <a:rPr lang="zh-CN" altLang="en-US">
                <a:solidFill>
                  <a:srgbClr val="0000CC"/>
                </a:solidFill>
              </a:rPr>
              <a:t>散列表</a:t>
            </a:r>
            <a:endParaRPr lang="en-US" altLang="zh-CN">
              <a:solidFill>
                <a:srgbClr val="0000CC"/>
              </a:solidFill>
            </a:endParaRPr>
          </a:p>
          <a:p>
            <a:r>
              <a:rPr lang="zh-CN" altLang="en-US"/>
              <a:t>散列表的适用范围</a:t>
            </a:r>
            <a:endParaRPr lang="en-US" altLang="zh-CN"/>
          </a:p>
          <a:p>
            <a:pPr lvl="1"/>
            <a:r>
              <a:rPr lang="en-US" altLang="zh-CN"/>
              <a:t>key</a:t>
            </a:r>
            <a:r>
              <a:rPr lang="zh-CN" altLang="en-US"/>
              <a:t>的取值范围比较宽泛</a:t>
            </a:r>
            <a:endParaRPr lang="en-US" altLang="zh-CN"/>
          </a:p>
          <a:p>
            <a:pPr lvl="1"/>
            <a:r>
              <a:rPr lang="zh-CN" altLang="en-US"/>
              <a:t>待处理的</a:t>
            </a:r>
            <a:r>
              <a:rPr lang="en-US" altLang="zh-CN"/>
              <a:t>key</a:t>
            </a:r>
            <a:r>
              <a:rPr lang="zh-CN" altLang="en-US"/>
              <a:t>值不多</a:t>
            </a:r>
            <a:endParaRPr lang="en-US" altLang="zh-CN"/>
          </a:p>
          <a:p>
            <a:pPr lvl="1"/>
            <a:r>
              <a:rPr lang="zh-CN" altLang="en-US"/>
              <a:t>存储空间有限</a:t>
            </a:r>
            <a:endParaRPr lang="en-US" altLang="zh-CN"/>
          </a:p>
          <a:p>
            <a:pPr lvl="1"/>
            <a:r>
              <a:rPr lang="zh-CN" altLang="en-US"/>
              <a:t>特别适用于需要</a:t>
            </a:r>
            <a:r>
              <a:rPr lang="zh-CN" altLang="en-US">
                <a:solidFill>
                  <a:srgbClr val="FF0000"/>
                </a:solidFill>
              </a:rPr>
              <a:t>快速查找</a:t>
            </a:r>
            <a:r>
              <a:rPr lang="zh-CN" altLang="en-US"/>
              <a:t>的问题</a:t>
            </a:r>
            <a:endParaRPr lang="en-US" altLang="zh-CN"/>
          </a:p>
          <a:p>
            <a:pPr lvl="1"/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117429-670F-42AA-9F40-B7D5D5C5404C}" type="slidenum">
              <a:rPr lang="en-US" altLang="en-US">
                <a:solidFill>
                  <a:srgbClr val="4B4B4B"/>
                </a:solidFill>
              </a:rPr>
              <a:t>18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Hash  VS  </a:t>
            </a:r>
            <a:r>
              <a:rPr lang="zh-CN" altLang="en-US"/>
              <a:t>传统查找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传统查找</a:t>
            </a:r>
            <a:endParaRPr lang="en-US" altLang="zh-CN"/>
          </a:p>
          <a:p>
            <a:pPr lvl="1"/>
            <a:r>
              <a:rPr lang="zh-CN" altLang="en-US"/>
              <a:t>记录在数据结构中的位置是</a:t>
            </a:r>
            <a:r>
              <a:rPr lang="zh-CN" altLang="en-US">
                <a:solidFill>
                  <a:srgbClr val="FF0000"/>
                </a:solidFill>
              </a:rPr>
              <a:t>随机</a:t>
            </a:r>
            <a:r>
              <a:rPr lang="zh-CN" altLang="en-US"/>
              <a:t>的</a:t>
            </a:r>
            <a:endParaRPr lang="en-US" altLang="zh-CN"/>
          </a:p>
          <a:p>
            <a:pPr lvl="1"/>
            <a:r>
              <a:rPr lang="zh-CN" altLang="en-US"/>
              <a:t>和记录的关键字之间不存在确定关系</a:t>
            </a:r>
            <a:endParaRPr lang="en-US" altLang="zh-CN"/>
          </a:p>
          <a:p>
            <a:pPr lvl="1"/>
            <a:r>
              <a:rPr lang="zh-CN" altLang="en-US"/>
              <a:t>查找记录时需要进行一系列的比较，效率依赖于比较的次数</a:t>
            </a:r>
            <a:endParaRPr lang="en-US" altLang="zh-CN"/>
          </a:p>
          <a:p>
            <a:r>
              <a:rPr lang="en-US" altLang="zh-CN"/>
              <a:t>Hash</a:t>
            </a:r>
          </a:p>
          <a:p>
            <a:pPr lvl="1"/>
            <a:r>
              <a:rPr lang="zh-CN" altLang="en-US">
                <a:solidFill>
                  <a:srgbClr val="0000CC"/>
                </a:solidFill>
              </a:rPr>
              <a:t>能否不经过比较，一次存取即得到所需数据？</a:t>
            </a:r>
            <a:endParaRPr lang="en-US" altLang="zh-CN">
              <a:solidFill>
                <a:srgbClr val="0000CC"/>
              </a:solidFill>
            </a:endParaRPr>
          </a:p>
          <a:p>
            <a:pPr lvl="1"/>
            <a:r>
              <a:rPr lang="zh-CN" altLang="en-US"/>
              <a:t>必须在记录的存储位置和关键字之间建立一个确定的对应关系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/>
              <a:t>，使得每个关键字和一个唯一的存储位置对应。</a:t>
            </a: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31770-B448-4F1B-8FF2-E3A94BCF1998}" type="slidenum">
              <a:rPr lang="en-US" altLang="en-US">
                <a:solidFill>
                  <a:srgbClr val="4B4B4B"/>
                </a:solidFill>
              </a:rPr>
              <a:t>19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最简单的散列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假设某班有学生</a:t>
            </a:r>
            <a:r>
              <a:rPr lang="en-US" altLang="zh-CN"/>
              <a:t>35</a:t>
            </a:r>
            <a:r>
              <a:rPr lang="zh-CN" altLang="en-US"/>
              <a:t>名</a:t>
            </a:r>
            <a:endParaRPr lang="en-US" altLang="zh-CN"/>
          </a:p>
          <a:p>
            <a:r>
              <a:rPr lang="zh-CN" altLang="en-US"/>
              <a:t>关键字：学号</a:t>
            </a:r>
            <a:r>
              <a:rPr lang="en-US" altLang="zh-CN"/>
              <a:t>1310101-1310135</a:t>
            </a:r>
          </a:p>
          <a:p>
            <a:pPr>
              <a:buFontTx/>
              <a:buNone/>
            </a:pPr>
            <a:r>
              <a:rPr lang="en-US" altLang="zh-CN"/>
              <a:t>	h(k)=k-1310101 </a:t>
            </a:r>
            <a:r>
              <a:rPr lang="zh-CN" altLang="en-US"/>
              <a:t>（线性函数、无冲突）</a:t>
            </a: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CB87C9-82C2-4BFF-B802-1E2C5DDBB7CD}" type="slidenum">
              <a:rPr lang="en-US" altLang="en-US">
                <a:solidFill>
                  <a:srgbClr val="4B4B4B"/>
                </a:solidFill>
              </a:rPr>
              <a:t>20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98425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34302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70180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06057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41935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77812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313690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49567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28955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64832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0710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36587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672465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708342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7442200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7800975" y="4505325"/>
            <a:ext cx="358775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854450" y="4505325"/>
            <a:ext cx="1435100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……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054" name="TextBox 23"/>
          <p:cNvSpPr txBox="1">
            <a:spLocks noChangeArrowheads="1"/>
          </p:cNvSpPr>
          <p:nvPr/>
        </p:nvSpPr>
        <p:spPr bwMode="auto">
          <a:xfrm>
            <a:off x="98425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0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55" name="TextBox 23"/>
          <p:cNvSpPr txBox="1">
            <a:spLocks noChangeArrowheads="1"/>
          </p:cNvSpPr>
          <p:nvPr/>
        </p:nvSpPr>
        <p:spPr bwMode="auto">
          <a:xfrm>
            <a:off x="134302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1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56" name="TextBox 23"/>
          <p:cNvSpPr txBox="1">
            <a:spLocks noChangeArrowheads="1"/>
          </p:cNvSpPr>
          <p:nvPr/>
        </p:nvSpPr>
        <p:spPr bwMode="auto">
          <a:xfrm>
            <a:off x="170180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2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57" name="TextBox 23"/>
          <p:cNvSpPr txBox="1">
            <a:spLocks noChangeArrowheads="1"/>
          </p:cNvSpPr>
          <p:nvPr/>
        </p:nvSpPr>
        <p:spPr bwMode="auto">
          <a:xfrm>
            <a:off x="206057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3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58" name="TextBox 23"/>
          <p:cNvSpPr txBox="1">
            <a:spLocks noChangeArrowheads="1"/>
          </p:cNvSpPr>
          <p:nvPr/>
        </p:nvSpPr>
        <p:spPr bwMode="auto">
          <a:xfrm>
            <a:off x="241935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4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59" name="TextBox 23"/>
          <p:cNvSpPr txBox="1">
            <a:spLocks noChangeArrowheads="1"/>
          </p:cNvSpPr>
          <p:nvPr/>
        </p:nvSpPr>
        <p:spPr bwMode="auto">
          <a:xfrm>
            <a:off x="277812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5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0" name="TextBox 27"/>
          <p:cNvSpPr txBox="1">
            <a:spLocks noChangeArrowheads="1"/>
          </p:cNvSpPr>
          <p:nvPr/>
        </p:nvSpPr>
        <p:spPr bwMode="auto">
          <a:xfrm>
            <a:off x="313690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6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1" name="TextBox 23"/>
          <p:cNvSpPr txBox="1">
            <a:spLocks noChangeArrowheads="1"/>
          </p:cNvSpPr>
          <p:nvPr/>
        </p:nvSpPr>
        <p:spPr bwMode="auto">
          <a:xfrm>
            <a:off x="349567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7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2" name="TextBox 23"/>
          <p:cNvSpPr txBox="1">
            <a:spLocks noChangeArrowheads="1"/>
          </p:cNvSpPr>
          <p:nvPr/>
        </p:nvSpPr>
        <p:spPr bwMode="auto">
          <a:xfrm>
            <a:off x="528955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27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3" name="TextBox 23"/>
          <p:cNvSpPr txBox="1">
            <a:spLocks noChangeArrowheads="1"/>
          </p:cNvSpPr>
          <p:nvPr/>
        </p:nvSpPr>
        <p:spPr bwMode="auto">
          <a:xfrm>
            <a:off x="564832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28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4" name="TextBox 31"/>
          <p:cNvSpPr txBox="1">
            <a:spLocks noChangeArrowheads="1"/>
          </p:cNvSpPr>
          <p:nvPr/>
        </p:nvSpPr>
        <p:spPr bwMode="auto">
          <a:xfrm>
            <a:off x="600710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29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5" name="TextBox 23"/>
          <p:cNvSpPr txBox="1">
            <a:spLocks noChangeArrowheads="1"/>
          </p:cNvSpPr>
          <p:nvPr/>
        </p:nvSpPr>
        <p:spPr bwMode="auto">
          <a:xfrm>
            <a:off x="636587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30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6" name="TextBox 23"/>
          <p:cNvSpPr txBox="1">
            <a:spLocks noChangeArrowheads="1"/>
          </p:cNvSpPr>
          <p:nvPr/>
        </p:nvSpPr>
        <p:spPr bwMode="auto">
          <a:xfrm>
            <a:off x="672465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31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7" name="TextBox 23"/>
          <p:cNvSpPr txBox="1">
            <a:spLocks noChangeArrowheads="1"/>
          </p:cNvSpPr>
          <p:nvPr/>
        </p:nvSpPr>
        <p:spPr bwMode="auto">
          <a:xfrm>
            <a:off x="708342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32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8" name="TextBox 35"/>
          <p:cNvSpPr txBox="1">
            <a:spLocks noChangeArrowheads="1"/>
          </p:cNvSpPr>
          <p:nvPr/>
        </p:nvSpPr>
        <p:spPr bwMode="auto">
          <a:xfrm>
            <a:off x="7442200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33</a:t>
            </a:r>
            <a:endParaRPr lang="zh-CN" altLang="en-US" sz="1200">
              <a:solidFill>
                <a:srgbClr val="0000CC"/>
              </a:solidFill>
            </a:endParaRPr>
          </a:p>
        </p:txBody>
      </p:sp>
      <p:sp>
        <p:nvSpPr>
          <p:cNvPr id="44069" name="TextBox 23"/>
          <p:cNvSpPr txBox="1">
            <a:spLocks noChangeArrowheads="1"/>
          </p:cNvSpPr>
          <p:nvPr/>
        </p:nvSpPr>
        <p:spPr bwMode="auto">
          <a:xfrm>
            <a:off x="7800975" y="4229100"/>
            <a:ext cx="358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0000CC"/>
                </a:solidFill>
              </a:rPr>
              <a:t>34</a:t>
            </a:r>
            <a:endParaRPr lang="zh-CN" altLang="en-US" sz="1200">
              <a:solidFill>
                <a:srgbClr val="0000CC"/>
              </a:solidFill>
            </a:endParaRPr>
          </a:p>
        </p:txBody>
      </p:sp>
      <p:cxnSp>
        <p:nvCxnSpPr>
          <p:cNvPr id="44070" name="直接箭头连接符 38"/>
          <p:cNvCxnSpPr>
            <a:cxnSpLocks noChangeShapeType="1"/>
          </p:cNvCxnSpPr>
          <p:nvPr/>
        </p:nvCxnSpPr>
        <p:spPr bwMode="auto">
          <a:xfrm rot="5400000" flipH="1" flipV="1">
            <a:off x="893762" y="4954588"/>
            <a:ext cx="538163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71" name="TextBox 23"/>
          <p:cNvSpPr txBox="1">
            <a:spLocks noChangeArrowheads="1"/>
          </p:cNvSpPr>
          <p:nvPr/>
        </p:nvSpPr>
        <p:spPr bwMode="auto">
          <a:xfrm>
            <a:off x="625475" y="5222875"/>
            <a:ext cx="1079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FF0000"/>
                </a:solidFill>
              </a:rPr>
              <a:t>1310101</a:t>
            </a:r>
            <a:endParaRPr lang="zh-CN" altLang="en-US" sz="1200">
              <a:solidFill>
                <a:srgbClr val="FF0000"/>
              </a:solidFill>
            </a:endParaRPr>
          </a:p>
        </p:txBody>
      </p:sp>
      <p:cxnSp>
        <p:nvCxnSpPr>
          <p:cNvPr id="44072" name="直接箭头连接符 40"/>
          <p:cNvCxnSpPr>
            <a:cxnSpLocks noChangeShapeType="1"/>
          </p:cNvCxnSpPr>
          <p:nvPr/>
        </p:nvCxnSpPr>
        <p:spPr bwMode="auto">
          <a:xfrm rot="5400000" flipH="1" flipV="1">
            <a:off x="7707313" y="4953000"/>
            <a:ext cx="538162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73" name="TextBox 23"/>
          <p:cNvSpPr txBox="1">
            <a:spLocks noChangeArrowheads="1"/>
          </p:cNvSpPr>
          <p:nvPr/>
        </p:nvSpPr>
        <p:spPr bwMode="auto">
          <a:xfrm>
            <a:off x="7439025" y="5222875"/>
            <a:ext cx="1079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>
                <a:solidFill>
                  <a:srgbClr val="FF0000"/>
                </a:solidFill>
              </a:rPr>
              <a:t>1310135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一个更一般的散列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我国有省级行政区</a:t>
            </a:r>
            <a:r>
              <a:rPr lang="en-US" altLang="zh-CN"/>
              <a:t>30+</a:t>
            </a:r>
            <a:r>
              <a:rPr lang="zh-CN" altLang="en-US"/>
              <a:t>个</a:t>
            </a:r>
            <a:endParaRPr lang="en-US" altLang="zh-CN"/>
          </a:p>
          <a:p>
            <a:r>
              <a:rPr lang="zh-CN" altLang="en-US"/>
              <a:t>关键字：拼音，可能的组合</a:t>
            </a:r>
            <a:r>
              <a:rPr lang="en-US" altLang="zh-CN"/>
              <a:t>26</a:t>
            </a:r>
            <a:r>
              <a:rPr lang="en-US" altLang="zh-CN" baseline="30000"/>
              <a:t>12</a:t>
            </a:r>
            <a:r>
              <a:rPr lang="en-US" altLang="zh-CN"/>
              <a:t>+</a:t>
            </a:r>
          </a:p>
          <a:p>
            <a:pPr lvl="1"/>
            <a:r>
              <a:rPr lang="en-US" altLang="zh-CN"/>
              <a:t>BEIJING</a:t>
            </a:r>
          </a:p>
          <a:p>
            <a:pPr lvl="1"/>
            <a:r>
              <a:rPr lang="en-US" altLang="zh-CN"/>
              <a:t>TIANJIN</a:t>
            </a:r>
          </a:p>
          <a:p>
            <a:pPr lvl="1"/>
            <a:r>
              <a:rPr lang="en-US" altLang="zh-CN"/>
              <a:t>SHANDONG</a:t>
            </a:r>
          </a:p>
          <a:p>
            <a:pPr lvl="1"/>
            <a:r>
              <a:rPr lang="en-US" altLang="zh-CN"/>
              <a:t>HEILONGJIANG</a:t>
            </a:r>
          </a:p>
          <a:p>
            <a:pPr lvl="1"/>
            <a:r>
              <a:rPr lang="en-US" altLang="zh-CN"/>
              <a:t>HEBEI</a:t>
            </a:r>
          </a:p>
          <a:p>
            <a:pPr lvl="1"/>
            <a:r>
              <a:rPr lang="en-US" altLang="zh-CN"/>
              <a:t>……</a:t>
            </a:r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97DF11-4480-4E7F-A546-0B79D60AABBE}" type="slidenum">
              <a:rPr lang="en-US" altLang="en-US">
                <a:solidFill>
                  <a:srgbClr val="4B4B4B"/>
                </a:solidFill>
              </a:rPr>
              <a:t>21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竖卷形 4"/>
          <p:cNvSpPr/>
          <p:nvPr/>
        </p:nvSpPr>
        <p:spPr bwMode="auto">
          <a:xfrm>
            <a:off x="4751388" y="2890838"/>
            <a:ext cx="3587750" cy="3408362"/>
          </a:xfrm>
          <a:prstGeom prst="verticalScroll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5062" name="TextBox 5"/>
          <p:cNvSpPr txBox="1">
            <a:spLocks noChangeArrowheads="1"/>
          </p:cNvSpPr>
          <p:nvPr/>
        </p:nvSpPr>
        <p:spPr bwMode="auto">
          <a:xfrm>
            <a:off x="5289550" y="3429000"/>
            <a:ext cx="25114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CC"/>
                </a:solidFill>
              </a:rPr>
              <a:t>散列表的适用范围</a:t>
            </a:r>
            <a:endParaRPr lang="en-US" altLang="zh-CN" b="1">
              <a:solidFill>
                <a:srgbClr val="0000CC"/>
              </a:solidFill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/>
              <a:t>key</a:t>
            </a:r>
            <a:r>
              <a:rPr lang="zh-CN" altLang="en-US"/>
              <a:t>的取值范围比较宽泛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待处理的</a:t>
            </a:r>
            <a:r>
              <a:rPr lang="en-US" altLang="zh-CN"/>
              <a:t>key</a:t>
            </a:r>
            <a:r>
              <a:rPr lang="zh-CN" altLang="en-US"/>
              <a:t>值不多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存储空间有限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/>
              <a:t>特别适用于需要</a:t>
            </a:r>
            <a:r>
              <a:rPr lang="zh-CN" altLang="en-US">
                <a:solidFill>
                  <a:srgbClr val="FF0000"/>
                </a:solidFill>
              </a:rPr>
              <a:t>快速查找</a:t>
            </a:r>
            <a:r>
              <a:rPr lang="zh-CN" altLang="en-US"/>
              <a:t>的问题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省级区划的</a:t>
            </a:r>
            <a:r>
              <a:rPr lang="en-US" altLang="zh-CN"/>
              <a:t>Hash</a:t>
            </a:r>
            <a:r>
              <a:rPr lang="zh-CN" altLang="en-US"/>
              <a:t>函数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0000CC"/>
              </a:buClr>
              <a:buFontTx/>
              <a:buAutoNum type="arabicPeriod"/>
            </a:pPr>
            <a:r>
              <a:rPr lang="zh-CN" altLang="en-US"/>
              <a:t>取关键字中第一个字母在字母表中的序号作为</a:t>
            </a:r>
            <a:r>
              <a:rPr lang="en-US" altLang="zh-CN"/>
              <a:t>Hash</a:t>
            </a:r>
            <a:r>
              <a:rPr lang="zh-CN" altLang="en-US"/>
              <a:t>函数</a:t>
            </a:r>
            <a:endParaRPr lang="en-US" altLang="zh-CN"/>
          </a:p>
          <a:p>
            <a:pPr marL="514350" indent="-514350">
              <a:buClr>
                <a:srgbClr val="0000CC"/>
              </a:buClr>
              <a:buFontTx/>
              <a:buAutoNum type="arabicPeriod"/>
            </a:pPr>
            <a:r>
              <a:rPr lang="zh-CN" altLang="en-US"/>
              <a:t>先求关键字的第一个和最后一个字母在字母表中的序号之和，然后判别这个和值，若比</a:t>
            </a:r>
            <a:r>
              <a:rPr lang="en-US" altLang="zh-CN"/>
              <a:t>30</a:t>
            </a:r>
            <a:r>
              <a:rPr lang="zh-CN" altLang="en-US"/>
              <a:t>（假设为表长）大，则减去</a:t>
            </a:r>
            <a:r>
              <a:rPr lang="en-US" altLang="zh-CN"/>
              <a:t>30</a:t>
            </a:r>
          </a:p>
          <a:p>
            <a:pPr marL="514350" indent="-514350">
              <a:buClr>
                <a:srgbClr val="0000CC"/>
              </a:buClr>
              <a:buFontTx/>
              <a:buAutoNum type="arabicPeriod"/>
            </a:pPr>
            <a:r>
              <a:rPr lang="zh-CN" altLang="en-US"/>
              <a:t>先求每个汉字的第一个拼音字母的</a:t>
            </a:r>
            <a:r>
              <a:rPr lang="en-US" altLang="zh-CN"/>
              <a:t>ASCII</a:t>
            </a:r>
            <a:r>
              <a:rPr lang="zh-CN" altLang="en-US"/>
              <a:t>码之和的八进制形式，然后将这个八进制数看成是十进制再除以</a:t>
            </a:r>
            <a:r>
              <a:rPr lang="en-US" altLang="zh-CN"/>
              <a:t>30</a:t>
            </a:r>
            <a:r>
              <a:rPr lang="zh-CN" altLang="en-US"/>
              <a:t>取余数</a:t>
            </a: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7FF4DB-6A0D-4876-AA6B-BB716B0C80EE}" type="slidenum">
              <a:rPr lang="en-US" altLang="en-US">
                <a:solidFill>
                  <a:srgbClr val="4B4B4B"/>
                </a:solidFill>
              </a:rPr>
              <a:t>22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省级区划的</a:t>
            </a:r>
            <a:r>
              <a:rPr lang="en-US" altLang="zh-CN"/>
              <a:t>Hash</a:t>
            </a:r>
            <a:r>
              <a:rPr lang="zh-CN" altLang="en-US"/>
              <a:t>结果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320675" y="1525588"/>
          <a:ext cx="8440738" cy="2160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2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3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79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79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0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key</a:t>
                      </a:r>
                      <a:endParaRPr lang="zh-CN" altLang="en-US" sz="14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BEIJING</a:t>
                      </a:r>
                    </a:p>
                    <a:p>
                      <a:pPr algn="ctr"/>
                      <a:r>
                        <a:rPr lang="zh-CN" altLang="en-US" sz="1400" dirty="0"/>
                        <a:t>北京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TIANJIN</a:t>
                      </a:r>
                    </a:p>
                    <a:p>
                      <a:pPr algn="ctr"/>
                      <a:r>
                        <a:rPr lang="zh-CN" altLang="en-US" sz="1400" dirty="0"/>
                        <a:t>天津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HEBEI</a:t>
                      </a:r>
                    </a:p>
                    <a:p>
                      <a:pPr algn="ctr"/>
                      <a:r>
                        <a:rPr lang="zh-CN" altLang="en-US" sz="1400" dirty="0"/>
                        <a:t>河北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SHANXI</a:t>
                      </a:r>
                    </a:p>
                    <a:p>
                      <a:pPr algn="ctr"/>
                      <a:r>
                        <a:rPr lang="zh-CN" altLang="en-US" sz="1400" dirty="0"/>
                        <a:t>山西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SHANGHAI</a:t>
                      </a:r>
                    </a:p>
                    <a:p>
                      <a:pPr algn="ctr"/>
                      <a:r>
                        <a:rPr lang="zh-CN" altLang="en-US" sz="1400" dirty="0"/>
                        <a:t>上海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SHANDONG</a:t>
                      </a:r>
                    </a:p>
                    <a:p>
                      <a:pPr algn="ctr"/>
                      <a:r>
                        <a:rPr lang="zh-CN" altLang="en-US" sz="1400" dirty="0"/>
                        <a:t>山东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HENAN</a:t>
                      </a:r>
                    </a:p>
                    <a:p>
                      <a:pPr algn="ctr"/>
                      <a:r>
                        <a:rPr lang="zh-CN" altLang="en-US" sz="1400" dirty="0"/>
                        <a:t>河南</a:t>
                      </a:r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SICHUAN</a:t>
                      </a:r>
                    </a:p>
                    <a:p>
                      <a:pPr algn="ctr"/>
                      <a:r>
                        <a:rPr lang="zh-CN" altLang="en-US" sz="1400" dirty="0"/>
                        <a:t>四川</a:t>
                      </a:r>
                    </a:p>
                  </a:txBody>
                  <a:tcPr marL="91437" marR="91437" marT="45732" marB="457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i="1" dirty="0"/>
                        <a:t>f</a:t>
                      </a:r>
                      <a:r>
                        <a:rPr lang="en-US" altLang="zh-CN" sz="1800" i="1" baseline="-25000" dirty="0"/>
                        <a:t>1</a:t>
                      </a:r>
                      <a:r>
                        <a:rPr lang="en-US" altLang="zh-CN" sz="1800" i="1" dirty="0"/>
                        <a:t>(key)</a:t>
                      </a:r>
                      <a:endParaRPr lang="zh-CN" altLang="en-US" sz="1800" i="1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02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20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08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19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19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19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08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19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i="1" dirty="0"/>
                        <a:t>f</a:t>
                      </a:r>
                      <a:r>
                        <a:rPr lang="en-US" altLang="zh-CN" sz="1800" i="1" baseline="-25000" dirty="0"/>
                        <a:t>2</a:t>
                      </a:r>
                      <a:r>
                        <a:rPr lang="en-US" altLang="zh-CN" sz="1800" i="1" dirty="0"/>
                        <a:t>(key)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09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04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17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28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28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26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22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03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i="1" dirty="0"/>
                        <a:t>f</a:t>
                      </a:r>
                      <a:r>
                        <a:rPr lang="en-US" altLang="zh-CN" sz="1800" i="1" baseline="-25000" dirty="0"/>
                        <a:t>3</a:t>
                      </a:r>
                      <a:r>
                        <a:rPr lang="en-US" altLang="zh-CN" sz="1800" i="1" dirty="0"/>
                        <a:t>(key)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04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26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02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13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23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17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16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16</a:t>
                      </a:r>
                      <a:endParaRPr lang="zh-CN" altLang="en-US" sz="1800" dirty="0"/>
                    </a:p>
                  </a:txBody>
                  <a:tcPr marL="91437" marR="91437" marT="45732" marB="457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159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C2C43B-F394-41B3-A707-271E6C461711}" type="slidenum">
              <a:rPr lang="en-US" altLang="en-US">
                <a:solidFill>
                  <a:srgbClr val="4B4B4B"/>
                </a:solidFill>
              </a:rPr>
              <a:t>23</a:t>
            </a:fld>
            <a:endParaRPr lang="en-US" altLang="en-US">
              <a:solidFill>
                <a:srgbClr val="4B4B4B"/>
              </a:solidFill>
            </a:endParaRPr>
          </a:p>
        </p:txBody>
      </p:sp>
      <p:cxnSp>
        <p:nvCxnSpPr>
          <p:cNvPr id="47160" name="直接箭头连接符 6"/>
          <p:cNvCxnSpPr>
            <a:cxnSpLocks noChangeShapeType="1"/>
          </p:cNvCxnSpPr>
          <p:nvPr/>
        </p:nvCxnSpPr>
        <p:spPr bwMode="auto">
          <a:xfrm rot="5400000">
            <a:off x="265907" y="4147344"/>
            <a:ext cx="717550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61" name="圆角矩形 7"/>
          <p:cNvSpPr>
            <a:spLocks noChangeArrowheads="1"/>
          </p:cNvSpPr>
          <p:nvPr/>
        </p:nvSpPr>
        <p:spPr bwMode="auto">
          <a:xfrm>
            <a:off x="266700" y="2173288"/>
            <a:ext cx="896938" cy="14351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47162" name="TextBox 8"/>
          <p:cNvSpPr txBox="1">
            <a:spLocks noChangeArrowheads="1"/>
          </p:cNvSpPr>
          <p:nvPr/>
        </p:nvSpPr>
        <p:spPr bwMode="auto">
          <a:xfrm>
            <a:off x="266700" y="4684713"/>
            <a:ext cx="19732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Hash</a:t>
            </a:r>
            <a:r>
              <a:rPr lang="zh-CN" altLang="en-US" sz="1600" b="1">
                <a:solidFill>
                  <a:srgbClr val="FF0000"/>
                </a:solidFill>
              </a:rPr>
              <a:t>函数的设定很灵活，只要使得任何关键字由此所得的哈希值落在表长范围内即可</a:t>
            </a:r>
          </a:p>
        </p:txBody>
      </p:sp>
      <p:sp>
        <p:nvSpPr>
          <p:cNvPr id="47163" name="圆角矩形 9"/>
          <p:cNvSpPr>
            <a:spLocks noChangeArrowheads="1"/>
          </p:cNvSpPr>
          <p:nvPr/>
        </p:nvSpPr>
        <p:spPr bwMode="auto">
          <a:xfrm>
            <a:off x="3854450" y="2173288"/>
            <a:ext cx="2870200" cy="358775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47164" name="圆角矩形 10"/>
          <p:cNvSpPr>
            <a:spLocks noChangeArrowheads="1"/>
          </p:cNvSpPr>
          <p:nvPr/>
        </p:nvSpPr>
        <p:spPr bwMode="auto">
          <a:xfrm>
            <a:off x="3854450" y="2711450"/>
            <a:ext cx="1793875" cy="358775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47165" name="直接箭头连接符 11"/>
          <p:cNvCxnSpPr>
            <a:cxnSpLocks noChangeShapeType="1"/>
          </p:cNvCxnSpPr>
          <p:nvPr/>
        </p:nvCxnSpPr>
        <p:spPr bwMode="auto">
          <a:xfrm rot="5400000">
            <a:off x="4123532" y="3877469"/>
            <a:ext cx="1257300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66" name="直接箭头连接符 13"/>
          <p:cNvCxnSpPr>
            <a:cxnSpLocks noChangeShapeType="1"/>
          </p:cNvCxnSpPr>
          <p:nvPr/>
        </p:nvCxnSpPr>
        <p:spPr bwMode="auto">
          <a:xfrm rot="5400000">
            <a:off x="4752181" y="3248819"/>
            <a:ext cx="1793875" cy="71913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67" name="TextBox 15"/>
          <p:cNvSpPr txBox="1">
            <a:spLocks noChangeArrowheads="1"/>
          </p:cNvSpPr>
          <p:nvPr/>
        </p:nvSpPr>
        <p:spPr bwMode="auto">
          <a:xfrm>
            <a:off x="4033838" y="4684713"/>
            <a:ext cx="37671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rgbClr val="FF0000"/>
                </a:solidFill>
              </a:rPr>
              <a:t>对不同关键字可能得到同一哈希地址，即</a:t>
            </a:r>
            <a:r>
              <a:rPr lang="en-US" altLang="zh-CN" sz="1600" b="1">
                <a:solidFill>
                  <a:srgbClr val="FF0000"/>
                </a:solidFill>
              </a:rPr>
              <a:t>key1</a:t>
            </a:r>
            <a:r>
              <a:rPr lang="zh-CN" altLang="en-US" sz="1600" b="1">
                <a:solidFill>
                  <a:srgbClr val="FF0000"/>
                </a:solidFill>
              </a:rPr>
              <a:t>≠</a:t>
            </a:r>
            <a:r>
              <a:rPr lang="en-US" altLang="zh-CN" sz="1600" b="1">
                <a:solidFill>
                  <a:srgbClr val="FF0000"/>
                </a:solidFill>
              </a:rPr>
              <a:t>key2</a:t>
            </a:r>
            <a:r>
              <a:rPr lang="zh-CN" altLang="en-US" sz="1600" b="1">
                <a:solidFill>
                  <a:srgbClr val="FF0000"/>
                </a:solidFill>
              </a:rPr>
              <a:t>，而</a:t>
            </a:r>
            <a:r>
              <a:rPr lang="en-US" altLang="zh-CN" sz="1600" b="1">
                <a:solidFill>
                  <a:srgbClr val="FF0000"/>
                </a:solidFill>
              </a:rPr>
              <a:t>f(key1)=f(key2)</a:t>
            </a:r>
            <a:r>
              <a:rPr lang="zh-CN" altLang="en-US" sz="1600" b="1">
                <a:solidFill>
                  <a:srgbClr val="FF0000"/>
                </a:solidFill>
              </a:rPr>
              <a:t>，这被称为</a:t>
            </a:r>
            <a:r>
              <a:rPr lang="zh-CN" altLang="en-US" sz="1600" b="1">
                <a:solidFill>
                  <a:srgbClr val="0000CC"/>
                </a:solidFill>
              </a:rPr>
              <a:t>冲突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Hash</a:t>
            </a:r>
            <a:r>
              <a:rPr lang="zh-CN" altLang="en-US"/>
              <a:t>的两个关键问题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结论</a:t>
            </a:r>
            <a:endParaRPr lang="en-US" altLang="zh-CN"/>
          </a:p>
          <a:p>
            <a:pPr lvl="1"/>
            <a:r>
              <a:rPr lang="zh-CN" altLang="en-US"/>
              <a:t>根据</a:t>
            </a:r>
            <a:r>
              <a:rPr lang="en-US" altLang="zh-CN"/>
              <a:t>key</a:t>
            </a:r>
            <a:r>
              <a:rPr lang="zh-CN" altLang="en-US"/>
              <a:t>的特性，选取合适的</a:t>
            </a:r>
            <a:r>
              <a:rPr lang="en-US" altLang="zh-CN"/>
              <a:t>Hash</a:t>
            </a:r>
            <a:r>
              <a:rPr lang="zh-CN" altLang="en-US"/>
              <a:t>函数可以尽量减少冲突</a:t>
            </a:r>
            <a:endParaRPr lang="en-US" altLang="zh-CN"/>
          </a:p>
          <a:p>
            <a:pPr lvl="1"/>
            <a:r>
              <a:rPr lang="zh-CN" altLang="en-US"/>
              <a:t>一般来说冲突不能完全避免，必须有处理机制</a:t>
            </a:r>
            <a:endParaRPr lang="en-US" altLang="zh-CN"/>
          </a:p>
          <a:p>
            <a:r>
              <a:rPr lang="en-US" altLang="zh-CN">
                <a:solidFill>
                  <a:srgbClr val="0000CC"/>
                </a:solidFill>
              </a:rPr>
              <a:t>Hash</a:t>
            </a:r>
            <a:r>
              <a:rPr lang="zh-CN" altLang="en-US">
                <a:solidFill>
                  <a:srgbClr val="0000CC"/>
                </a:solidFill>
              </a:rPr>
              <a:t>函数如何设计和选取？（如何建立从关键字到存储位置的映射关系？）</a:t>
            </a:r>
            <a:endParaRPr lang="en-US" altLang="zh-CN">
              <a:solidFill>
                <a:srgbClr val="0000CC"/>
              </a:solidFill>
            </a:endParaRPr>
          </a:p>
          <a:p>
            <a:r>
              <a:rPr lang="zh-CN" altLang="en-US">
                <a:solidFill>
                  <a:srgbClr val="0000CC"/>
                </a:solidFill>
              </a:rPr>
              <a:t>如果经过</a:t>
            </a:r>
            <a:r>
              <a:rPr lang="en-US" altLang="zh-CN">
                <a:solidFill>
                  <a:srgbClr val="0000CC"/>
                </a:solidFill>
              </a:rPr>
              <a:t>Hash</a:t>
            </a:r>
            <a:r>
              <a:rPr lang="zh-CN" altLang="en-US">
                <a:solidFill>
                  <a:srgbClr val="0000CC"/>
                </a:solidFill>
              </a:rPr>
              <a:t>函数的运算，多个关键字被映射到同一个存储位置（发生冲突），该怎么办？</a:t>
            </a:r>
            <a:endParaRPr lang="en-US" altLang="zh-CN">
              <a:solidFill>
                <a:srgbClr val="0000CC"/>
              </a:solidFill>
            </a:endParaRPr>
          </a:p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CD08F1-2570-4D3F-8CE5-B383876E755D}" type="slidenum">
              <a:rPr lang="en-US" altLang="en-US">
                <a:solidFill>
                  <a:srgbClr val="4B4B4B"/>
                </a:solidFill>
              </a:rPr>
              <a:t>24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关键问题一：构造</a:t>
            </a:r>
            <a:r>
              <a:rPr lang="en-US" altLang="zh-CN"/>
              <a:t>Hash</a:t>
            </a:r>
            <a:r>
              <a:rPr lang="zh-CN" altLang="en-US"/>
              <a:t>函数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好的</a:t>
            </a:r>
            <a:r>
              <a:rPr lang="en-US" altLang="zh-CN"/>
              <a:t>Hash</a:t>
            </a:r>
            <a:r>
              <a:rPr lang="zh-CN" altLang="en-US"/>
              <a:t>函数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CC"/>
                </a:solidFill>
              </a:rPr>
              <a:t>定义域必须包括所有关键字，值域必须在表长范围之内</a:t>
            </a:r>
            <a:endParaRPr lang="en-US" altLang="zh-CN">
              <a:solidFill>
                <a:srgbClr val="0000CC"/>
              </a:solidFill>
            </a:endParaRPr>
          </a:p>
          <a:p>
            <a:pPr lvl="1"/>
            <a:r>
              <a:rPr lang="zh-CN" altLang="en-US"/>
              <a:t>若对于关键字集合中的任一个关键字，经</a:t>
            </a:r>
            <a:r>
              <a:rPr lang="en-US" altLang="zh-CN"/>
              <a:t>Hash</a:t>
            </a:r>
            <a:r>
              <a:rPr lang="zh-CN" altLang="en-US"/>
              <a:t>函数映像到地址集合中任何一个地址的概率是相等的，则称此类</a:t>
            </a:r>
            <a:r>
              <a:rPr lang="en-US" altLang="zh-CN"/>
              <a:t>Hash</a:t>
            </a:r>
            <a:r>
              <a:rPr lang="zh-CN" altLang="en-US"/>
              <a:t>函数是</a:t>
            </a:r>
            <a:r>
              <a:rPr lang="zh-CN" altLang="en-US">
                <a:solidFill>
                  <a:srgbClr val="0000CC"/>
                </a:solidFill>
              </a:rPr>
              <a:t>均匀的</a:t>
            </a:r>
            <a:r>
              <a:rPr lang="zh-CN" altLang="en-US"/>
              <a:t>。换句话说，就是使关键字经过</a:t>
            </a:r>
            <a:r>
              <a:rPr lang="en-US" altLang="zh-CN"/>
              <a:t>Hash</a:t>
            </a:r>
            <a:r>
              <a:rPr lang="zh-CN" altLang="en-US"/>
              <a:t>函数得到一个“随机地址”，以便使一组关键字的哈希地址均匀分布在整个地址区间中，从而</a:t>
            </a:r>
            <a:r>
              <a:rPr lang="zh-CN" altLang="en-US">
                <a:solidFill>
                  <a:srgbClr val="0000CC"/>
                </a:solidFill>
              </a:rPr>
              <a:t>减少冲突</a:t>
            </a:r>
            <a:endParaRPr lang="en-US" altLang="zh-CN">
              <a:solidFill>
                <a:srgbClr val="0000CC"/>
              </a:solidFill>
            </a:endParaRPr>
          </a:p>
          <a:p>
            <a:pPr lvl="1"/>
            <a:r>
              <a:rPr lang="zh-CN" altLang="en-US">
                <a:solidFill>
                  <a:srgbClr val="0000CC"/>
                </a:solidFill>
              </a:rPr>
              <a:t>尽量简单，计算时间尽量少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AE0895-5C86-4936-83EB-CA491535DF89}" type="slidenum">
              <a:rPr lang="en-US" altLang="en-US">
                <a:solidFill>
                  <a:srgbClr val="4B4B4B"/>
                </a:solidFill>
              </a:rPr>
              <a:t>25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直接定址法</a:t>
            </a: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对关键字做一个线性计算，把计算结果当做散列地址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		Hash(key)= a * key + b</a:t>
            </a:r>
          </a:p>
          <a:p>
            <a:r>
              <a:rPr lang="zh-CN" altLang="en-US"/>
              <a:t>特点</a:t>
            </a:r>
            <a:endParaRPr lang="en-US" altLang="zh-CN"/>
          </a:p>
          <a:p>
            <a:pPr lvl="1"/>
            <a:r>
              <a:rPr lang="zh-CN" altLang="en-US"/>
              <a:t>计算简单</a:t>
            </a:r>
            <a:endParaRPr lang="en-US" altLang="zh-CN"/>
          </a:p>
          <a:p>
            <a:pPr lvl="1"/>
            <a:r>
              <a:rPr lang="zh-CN" altLang="en-US"/>
              <a:t>没有冲突发生</a:t>
            </a:r>
            <a:endParaRPr lang="en-US" altLang="zh-CN"/>
          </a:p>
          <a:p>
            <a:pPr lvl="1"/>
            <a:r>
              <a:rPr lang="zh-CN" altLang="en-US"/>
              <a:t>太理想，很少有应用场景</a:t>
            </a: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83A97B-A59A-4D85-BA0C-09CCADA6A046}" type="slidenum">
              <a:rPr lang="en-US" altLang="en-US">
                <a:solidFill>
                  <a:srgbClr val="4B4B4B"/>
                </a:solidFill>
              </a:rPr>
              <a:t>26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数字分析法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设有</a:t>
            </a:r>
            <a:r>
              <a:rPr lang="en-US" altLang="zh-CN"/>
              <a:t>n</a:t>
            </a:r>
            <a:r>
              <a:rPr lang="zh-CN" altLang="en-US"/>
              <a:t>个</a:t>
            </a:r>
            <a:r>
              <a:rPr lang="en-US" altLang="zh-CN"/>
              <a:t>d</a:t>
            </a:r>
            <a:r>
              <a:rPr lang="zh-CN" altLang="en-US"/>
              <a:t>位数，每一位可能有</a:t>
            </a:r>
            <a:r>
              <a:rPr lang="en-US" altLang="zh-CN"/>
              <a:t>r</a:t>
            </a:r>
            <a:r>
              <a:rPr lang="zh-CN" altLang="en-US"/>
              <a:t>种不同的符号。这</a:t>
            </a:r>
            <a:r>
              <a:rPr lang="en-US" altLang="zh-CN"/>
              <a:t>r</a:t>
            </a:r>
            <a:r>
              <a:rPr lang="zh-CN" altLang="en-US"/>
              <a:t>种不同符号在各位上出现的频率不一定相同，可能在某些位上分布均匀些，在另一些位上不均匀。</a:t>
            </a:r>
            <a:endParaRPr lang="en-US" altLang="zh-CN"/>
          </a:p>
          <a:p>
            <a:r>
              <a:rPr lang="zh-CN" altLang="en-US"/>
              <a:t>则应根据已知关键字集合的特点，选取出那些分布均匀（冲突较少）的位进行哈希映射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400A41-F5CA-4C99-A936-17261AAA938D}" type="slidenum">
              <a:rPr lang="en-US" altLang="en-US">
                <a:solidFill>
                  <a:srgbClr val="4B4B4B"/>
                </a:solidFill>
              </a:rPr>
              <a:t>27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数字分析法示例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984250" y="1455738"/>
          <a:ext cx="7369176" cy="40798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1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11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98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… …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0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9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8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7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… …</a:t>
                      </a:r>
                      <a:endParaRPr lang="zh-CN" altLang="en-US" sz="1800" b="1" dirty="0"/>
                    </a:p>
                  </a:txBody>
                  <a:tcPr marT="45727" marB="45727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(1)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(2)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(3)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(4)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(5)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(6)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(7)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CC"/>
                          </a:solidFill>
                        </a:rPr>
                        <a:t>(8)</a:t>
                      </a:r>
                      <a:endParaRPr lang="zh-CN" altLang="en-US" sz="1800" b="1" dirty="0">
                        <a:solidFill>
                          <a:srgbClr val="0000CC"/>
                        </a:solidFill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33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B11F11-E235-4B2F-A5D4-2E4B72727DDE}" type="slidenum">
              <a:rPr lang="en-US" altLang="en-US">
                <a:solidFill>
                  <a:srgbClr val="4B4B4B"/>
                </a:solidFill>
              </a:rPr>
              <a:t>28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2331" name="左大括号 5"/>
          <p:cNvSpPr/>
          <p:nvPr/>
        </p:nvSpPr>
        <p:spPr bwMode="auto">
          <a:xfrm>
            <a:off x="625475" y="1455738"/>
            <a:ext cx="404813" cy="3767137"/>
          </a:xfrm>
          <a:prstGeom prst="leftBrace">
            <a:avLst>
              <a:gd name="adj1" fmla="val 8315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2332" name="TextBox 6"/>
          <p:cNvSpPr txBox="1">
            <a:spLocks noChangeArrowheads="1"/>
          </p:cNvSpPr>
          <p:nvPr/>
        </p:nvSpPr>
        <p:spPr bwMode="auto">
          <a:xfrm>
            <a:off x="266700" y="2890838"/>
            <a:ext cx="5381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0000"/>
                </a:solidFill>
              </a:rPr>
              <a:t>80</a:t>
            </a:r>
            <a:r>
              <a:rPr lang="zh-CN" altLang="en-US" sz="1600" b="1">
                <a:solidFill>
                  <a:srgbClr val="FF0000"/>
                </a:solidFill>
              </a:rPr>
              <a:t>个数</a:t>
            </a:r>
          </a:p>
        </p:txBody>
      </p:sp>
      <p:sp>
        <p:nvSpPr>
          <p:cNvPr id="52333" name="TextBox 7"/>
          <p:cNvSpPr txBox="1">
            <a:spLocks noChangeArrowheads="1"/>
          </p:cNvSpPr>
          <p:nvPr/>
        </p:nvSpPr>
        <p:spPr bwMode="auto">
          <a:xfrm>
            <a:off x="984250" y="5761038"/>
            <a:ext cx="73548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哈希表长度为</a:t>
            </a:r>
            <a:r>
              <a:rPr lang="en-US" altLang="zh-CN">
                <a:solidFill>
                  <a:srgbClr val="FF0000"/>
                </a:solidFill>
              </a:rPr>
              <a:t>100</a:t>
            </a:r>
            <a:r>
              <a:rPr lang="zh-CN" altLang="en-US">
                <a:solidFill>
                  <a:srgbClr val="FF0000"/>
                </a:solidFill>
              </a:rPr>
              <a:t>，即有</a:t>
            </a:r>
            <a:r>
              <a:rPr lang="en-US" altLang="zh-CN">
                <a:solidFill>
                  <a:srgbClr val="FF0000"/>
                </a:solidFill>
              </a:rPr>
              <a:t>100</a:t>
            </a:r>
            <a:r>
              <a:rPr lang="zh-CN" altLang="en-US">
                <a:solidFill>
                  <a:srgbClr val="FF0000"/>
                </a:solidFill>
              </a:rPr>
              <a:t>个存储地址。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>
                <a:solidFill>
                  <a:srgbClr val="0000CC"/>
                </a:solidFill>
              </a:rPr>
              <a:t>可取第</a:t>
            </a:r>
            <a:r>
              <a:rPr lang="en-US" altLang="zh-CN">
                <a:solidFill>
                  <a:srgbClr val="0000CC"/>
                </a:solidFill>
              </a:rPr>
              <a:t>4</a:t>
            </a:r>
            <a:r>
              <a:rPr lang="zh-CN" altLang="en-US">
                <a:solidFill>
                  <a:srgbClr val="0000CC"/>
                </a:solidFill>
              </a:rPr>
              <a:t>、</a:t>
            </a:r>
            <a:r>
              <a:rPr lang="en-US" altLang="zh-CN">
                <a:solidFill>
                  <a:srgbClr val="0000CC"/>
                </a:solidFill>
              </a:rPr>
              <a:t>5</a:t>
            </a:r>
            <a:r>
              <a:rPr lang="zh-CN" altLang="en-US">
                <a:solidFill>
                  <a:srgbClr val="0000CC"/>
                </a:solidFill>
              </a:rPr>
              <a:t>两位组成一个两位数作为</a:t>
            </a:r>
            <a:r>
              <a:rPr lang="en-US" altLang="zh-CN">
                <a:solidFill>
                  <a:srgbClr val="0000CC"/>
                </a:solidFill>
              </a:rPr>
              <a:t>Hash</a:t>
            </a:r>
            <a:r>
              <a:rPr lang="zh-CN" altLang="en-US">
                <a:solidFill>
                  <a:srgbClr val="0000CC"/>
                </a:solidFill>
              </a:rPr>
              <a:t>地址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平方取中法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取关键字平方后的中间几位为哈希地址</a:t>
            </a:r>
            <a:endParaRPr lang="en-US" altLang="zh-CN"/>
          </a:p>
          <a:p>
            <a:pPr lvl="1"/>
            <a:r>
              <a:rPr lang="zh-CN" altLang="en-US"/>
              <a:t>通常在选定哈希函数时不一定能知道关键字的全部情况，取其中哪几位也不一定合适</a:t>
            </a:r>
            <a:endParaRPr lang="en-US" altLang="zh-CN"/>
          </a:p>
          <a:p>
            <a:pPr lvl="1"/>
            <a:r>
              <a:rPr lang="zh-CN" altLang="en-US"/>
              <a:t>而一个数的平方后的中间几位数和原数的每一位都相关，由此使随机分布的关键字得到的哈希地址也是随机的</a:t>
            </a:r>
            <a:endParaRPr lang="en-US" altLang="zh-CN"/>
          </a:p>
          <a:p>
            <a:pPr lvl="1"/>
            <a:r>
              <a:rPr lang="zh-CN" altLang="en-US"/>
              <a:t>取的位数由表长决定</a:t>
            </a: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C0D61A-6D40-4C2A-8C3C-2A130E0B02C4}" type="slidenum">
              <a:rPr lang="en-US" altLang="en-US">
                <a:solidFill>
                  <a:srgbClr val="4B4B4B"/>
                </a:solidFill>
              </a:rPr>
              <a:t>29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平方取中法示例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917575" y="1993900"/>
          <a:ext cx="7369180" cy="7413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6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……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Z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……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02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03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32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60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61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62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71</a:t>
                      </a:r>
                      <a:endParaRPr lang="zh-CN" altLang="en-US" sz="1800" dirty="0"/>
                    </a:p>
                  </a:txBody>
                  <a:tcPr marT="45700" marB="45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31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DC1072-D765-464D-9747-B7204141C798}" type="slidenum">
              <a:rPr lang="en-US" altLang="en-US">
                <a:solidFill>
                  <a:srgbClr val="4B4B4B"/>
                </a:solidFill>
              </a:rPr>
              <a:t>30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4311" name="TextBox 5"/>
          <p:cNvSpPr txBox="1">
            <a:spLocks noChangeArrowheads="1"/>
          </p:cNvSpPr>
          <p:nvPr/>
        </p:nvSpPr>
        <p:spPr bwMode="auto">
          <a:xfrm>
            <a:off x="804863" y="1635125"/>
            <a:ext cx="6457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0000"/>
                </a:solidFill>
              </a:rPr>
              <a:t>假设有此</a:t>
            </a:r>
            <a:r>
              <a:rPr lang="en-US" altLang="zh-CN" sz="1600">
                <a:solidFill>
                  <a:srgbClr val="FF0000"/>
                </a:solidFill>
              </a:rPr>
              <a:t>8</a:t>
            </a:r>
            <a:r>
              <a:rPr lang="zh-CN" altLang="en-US" sz="1600">
                <a:solidFill>
                  <a:srgbClr val="FF0000"/>
                </a:solidFill>
              </a:rPr>
              <a:t>进制编码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84250" y="2890838"/>
          <a:ext cx="7104063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记录</a:t>
                      </a:r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关键字</a:t>
                      </a:r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(</a:t>
                      </a:r>
                      <a:r>
                        <a:rPr lang="zh-CN" altLang="en-US" sz="1800" dirty="0"/>
                        <a:t>关键字</a:t>
                      </a:r>
                      <a:r>
                        <a:rPr lang="en-US" altLang="zh-CN" sz="1800" dirty="0"/>
                        <a:t>)</a:t>
                      </a:r>
                      <a:r>
                        <a:rPr lang="en-US" altLang="zh-CN" sz="1800" baseline="30000" dirty="0"/>
                        <a:t>2</a:t>
                      </a:r>
                      <a:endParaRPr lang="zh-CN" altLang="en-US" sz="1800" baseline="300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哈希地址</a:t>
                      </a: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 </a:t>
                      </a:r>
                      <a:r>
                        <a:rPr lang="en-US" altLang="zh-CN" sz="1800" u="sng" dirty="0"/>
                        <a:t>010</a:t>
                      </a:r>
                      <a:r>
                        <a:rPr lang="en-US" altLang="zh-CN" sz="1800" dirty="0"/>
                        <a:t> 000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010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 </a:t>
                      </a:r>
                      <a:r>
                        <a:rPr lang="en-US" altLang="zh-CN" sz="1800" u="sng" dirty="0"/>
                        <a:t>210</a:t>
                      </a:r>
                      <a:r>
                        <a:rPr lang="en-US" altLang="zh-CN" sz="1800" dirty="0"/>
                        <a:t> 000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210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1200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 </a:t>
                      </a:r>
                      <a:r>
                        <a:rPr lang="en-US" altLang="zh-CN" sz="1800" u="sng" dirty="0"/>
                        <a:t>440</a:t>
                      </a:r>
                      <a:r>
                        <a:rPr lang="en-US" altLang="zh-CN" sz="1800" dirty="0"/>
                        <a:t> 000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440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1160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 </a:t>
                      </a:r>
                      <a:r>
                        <a:rPr lang="en-US" altLang="zh-CN" sz="1800" u="sng" dirty="0"/>
                        <a:t>370</a:t>
                      </a:r>
                      <a:r>
                        <a:rPr lang="en-US" altLang="zh-CN" sz="1800" dirty="0"/>
                        <a:t> 400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370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P1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2061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 </a:t>
                      </a:r>
                      <a:r>
                        <a:rPr lang="en-US" altLang="zh-CN" sz="1800" u="sng" dirty="0"/>
                        <a:t>310</a:t>
                      </a:r>
                      <a:r>
                        <a:rPr lang="en-US" altLang="zh-CN" sz="1800" dirty="0"/>
                        <a:t> 541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310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P2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2062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 </a:t>
                      </a:r>
                      <a:r>
                        <a:rPr lang="en-US" altLang="zh-CN" sz="1800" u="sng" dirty="0"/>
                        <a:t>314</a:t>
                      </a:r>
                      <a:r>
                        <a:rPr lang="en-US" altLang="zh-CN" sz="1800" dirty="0"/>
                        <a:t> 704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314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Q1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2161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 </a:t>
                      </a:r>
                      <a:r>
                        <a:rPr lang="en-US" altLang="zh-CN" sz="1800" u="sng" dirty="0"/>
                        <a:t>734</a:t>
                      </a:r>
                      <a:r>
                        <a:rPr lang="en-US" altLang="zh-CN" sz="1800" dirty="0"/>
                        <a:t> 741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734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Q2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2162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 </a:t>
                      </a:r>
                      <a:r>
                        <a:rPr lang="en-US" altLang="zh-CN" sz="1800" u="sng" dirty="0"/>
                        <a:t>741</a:t>
                      </a:r>
                      <a:r>
                        <a:rPr lang="en-US" altLang="zh-CN" sz="1800" dirty="0"/>
                        <a:t> 304</a:t>
                      </a:r>
                      <a:endParaRPr lang="zh-CN" altLang="en-US" sz="1800" dirty="0"/>
                    </a:p>
                  </a:txBody>
                  <a:tcPr marL="91441" marR="91441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741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41" marR="91441" marT="45711" marB="4571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折叠法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将关键字分割成位数相同的几部分（最后一部分的位数可以不同），然后取这几部分的叠加和（舍去进位）作为哈希地址</a:t>
            </a:r>
            <a:endParaRPr lang="en-US" altLang="zh-CN"/>
          </a:p>
          <a:p>
            <a:pPr lvl="1"/>
            <a:r>
              <a:rPr lang="zh-CN" altLang="en-US"/>
              <a:t>可以从左向右分割，也可以从右向左分割</a:t>
            </a:r>
            <a:endParaRPr lang="en-US" altLang="zh-CN"/>
          </a:p>
          <a:p>
            <a:pPr lvl="1"/>
            <a:r>
              <a:rPr lang="zh-CN" altLang="en-US"/>
              <a:t>一般分割出的位数将与散列表地址位数相同</a:t>
            </a:r>
            <a:endParaRPr lang="en-US" altLang="zh-CN"/>
          </a:p>
          <a:p>
            <a:pPr lvl="1"/>
            <a:r>
              <a:rPr lang="zh-CN" altLang="en-US"/>
              <a:t>适用于关键字位数很多的情况（</a:t>
            </a:r>
            <a:r>
              <a:rPr lang="zh-CN" altLang="en-US">
                <a:solidFill>
                  <a:srgbClr val="FF0000"/>
                </a:solidFill>
              </a:rPr>
              <a:t>显然此时数字分析和平方取中均不合适</a:t>
            </a:r>
            <a:r>
              <a:rPr lang="zh-CN" altLang="en-US"/>
              <a:t>）</a:t>
            </a: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1B5CD4-16B6-4018-AA96-CF361CBC1D01}" type="slidenum">
              <a:rPr lang="en-US" altLang="en-US">
                <a:solidFill>
                  <a:srgbClr val="4B4B4B"/>
                </a:solidFill>
              </a:rPr>
              <a:t>31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折叠法的分类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移位叠加法</a:t>
            </a:r>
            <a:endParaRPr lang="en-US" altLang="zh-CN"/>
          </a:p>
          <a:p>
            <a:pPr lvl="1"/>
            <a:r>
              <a:rPr lang="zh-CN" altLang="en-US"/>
              <a:t>把各部分的最后一位对齐相加</a:t>
            </a:r>
            <a:endParaRPr lang="en-US" altLang="zh-CN"/>
          </a:p>
          <a:p>
            <a:r>
              <a:rPr lang="zh-CN" altLang="en-US"/>
              <a:t>间界叠加法（分界叠加法）</a:t>
            </a:r>
            <a:endParaRPr lang="en-US" altLang="zh-CN"/>
          </a:p>
          <a:p>
            <a:pPr lvl="1"/>
            <a:r>
              <a:rPr lang="zh-CN" altLang="en-US"/>
              <a:t>各部分不折断，沿各部分的分界来回折叠，然后对齐相加</a:t>
            </a: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BB30A6-A087-41A1-9480-727BB9B0C6BA}" type="slidenum">
              <a:rPr lang="en-US" altLang="en-US">
                <a:solidFill>
                  <a:srgbClr val="4B4B4B"/>
                </a:solidFill>
              </a:rPr>
              <a:t>32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折叠法示例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每一种西文图书都有一个国际标准图书编号（</a:t>
            </a:r>
            <a:r>
              <a:rPr lang="en-US" altLang="zh-CN" sz="2000"/>
              <a:t>ISBN</a:t>
            </a:r>
            <a:r>
              <a:rPr lang="zh-CN" altLang="en-US" sz="2000"/>
              <a:t>），是一个</a:t>
            </a:r>
            <a:r>
              <a:rPr lang="en-US" altLang="zh-CN" sz="2000"/>
              <a:t>10</a:t>
            </a:r>
            <a:r>
              <a:rPr lang="zh-CN" altLang="en-US" sz="2000"/>
              <a:t>进制数字（</a:t>
            </a:r>
            <a:r>
              <a:rPr lang="zh-CN" altLang="en-US" sz="2000">
                <a:solidFill>
                  <a:srgbClr val="FF0000"/>
                </a:solidFill>
              </a:rPr>
              <a:t>假设</a:t>
            </a:r>
            <a:r>
              <a:rPr lang="zh-CN" altLang="en-US" sz="2000"/>
              <a:t>）</a:t>
            </a:r>
            <a:endParaRPr lang="en-US" altLang="zh-CN" sz="2000"/>
          </a:p>
          <a:p>
            <a:r>
              <a:rPr lang="zh-CN" altLang="en-US" sz="2000"/>
              <a:t>当图书馆藏书种类不到</a:t>
            </a:r>
            <a:r>
              <a:rPr lang="en-US" altLang="zh-CN" sz="2000"/>
              <a:t>10 000</a:t>
            </a:r>
            <a:r>
              <a:rPr lang="zh-CN" altLang="en-US" sz="2000"/>
              <a:t>时，可以构造一个四位数的哈希函数</a:t>
            </a:r>
            <a:endParaRPr lang="en-US" altLang="zh-CN" sz="2000"/>
          </a:p>
          <a:p>
            <a:r>
              <a:rPr lang="zh-CN" altLang="en-US" sz="2000"/>
              <a:t>如</a:t>
            </a:r>
            <a:r>
              <a:rPr lang="en-US" altLang="zh-CN" sz="2000"/>
              <a:t>ISBN</a:t>
            </a:r>
            <a:r>
              <a:rPr lang="zh-CN" altLang="en-US" sz="2000"/>
              <a:t>：</a:t>
            </a:r>
            <a:r>
              <a:rPr lang="en-US" altLang="zh-CN" sz="2000"/>
              <a:t>0-442-20586-4</a:t>
            </a:r>
            <a:endParaRPr lang="zh-CN" altLang="en-US" sz="200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D73E4A-1D73-4415-BD82-17D9DF5F1457}" type="slidenum">
              <a:rPr lang="en-US" altLang="en-US">
                <a:solidFill>
                  <a:srgbClr val="4B4B4B"/>
                </a:solidFill>
              </a:rPr>
              <a:t>33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7349" name="TextBox 4"/>
          <p:cNvSpPr txBox="1">
            <a:spLocks noChangeArrowheads="1"/>
          </p:cNvSpPr>
          <p:nvPr/>
        </p:nvSpPr>
        <p:spPr bwMode="auto">
          <a:xfrm>
            <a:off x="984250" y="3608388"/>
            <a:ext cx="25114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/>
              <a:t>5864</a:t>
            </a:r>
          </a:p>
          <a:p>
            <a:pPr algn="r" eaLnBrk="1" hangingPunct="1"/>
            <a:r>
              <a:rPr lang="en-US" altLang="zh-CN"/>
              <a:t>4220</a:t>
            </a:r>
          </a:p>
          <a:p>
            <a:pPr algn="r" eaLnBrk="1" hangingPunct="1"/>
            <a:r>
              <a:rPr lang="en-US" altLang="zh-CN"/>
              <a:t>+</a:t>
            </a:r>
            <a:r>
              <a:rPr lang="zh-CN" altLang="en-US"/>
              <a:t>）           </a:t>
            </a:r>
            <a:r>
              <a:rPr lang="en-US" altLang="zh-CN"/>
              <a:t>04</a:t>
            </a:r>
          </a:p>
          <a:p>
            <a:pPr algn="r" eaLnBrk="1" hangingPunct="1"/>
            <a:r>
              <a:rPr lang="en-US" altLang="zh-CN"/>
              <a:t>——————————</a:t>
            </a:r>
          </a:p>
          <a:p>
            <a:pPr algn="r" eaLnBrk="1" hangingPunct="1"/>
            <a:r>
              <a:rPr lang="en-US" altLang="zh-CN"/>
              <a:t>10088</a:t>
            </a:r>
          </a:p>
          <a:p>
            <a:pPr algn="r" eaLnBrk="1" hangingPunct="1"/>
            <a:endParaRPr lang="en-US" altLang="zh-CN"/>
          </a:p>
          <a:p>
            <a:pPr algn="r" eaLnBrk="1" hangingPunct="1"/>
            <a:r>
              <a:rPr lang="en-US" altLang="zh-CN"/>
              <a:t>H(key) = 0088</a:t>
            </a:r>
            <a:endParaRPr lang="zh-CN" altLang="en-US"/>
          </a:p>
        </p:txBody>
      </p:sp>
      <p:sp>
        <p:nvSpPr>
          <p:cNvPr id="57350" name="TextBox 5"/>
          <p:cNvSpPr txBox="1">
            <a:spLocks noChangeArrowheads="1"/>
          </p:cNvSpPr>
          <p:nvPr/>
        </p:nvSpPr>
        <p:spPr bwMode="auto">
          <a:xfrm>
            <a:off x="5110163" y="3608388"/>
            <a:ext cx="25114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/>
              <a:t>5864</a:t>
            </a:r>
          </a:p>
          <a:p>
            <a:pPr algn="r" eaLnBrk="1" hangingPunct="1"/>
            <a:r>
              <a:rPr lang="en-US" altLang="zh-CN"/>
              <a:t>0224</a:t>
            </a:r>
          </a:p>
          <a:p>
            <a:pPr algn="r" eaLnBrk="1" hangingPunct="1"/>
            <a:r>
              <a:rPr lang="en-US" altLang="zh-CN"/>
              <a:t>+</a:t>
            </a:r>
            <a:r>
              <a:rPr lang="zh-CN" altLang="en-US"/>
              <a:t>）           </a:t>
            </a:r>
            <a:r>
              <a:rPr lang="en-US" altLang="zh-CN"/>
              <a:t>04</a:t>
            </a:r>
          </a:p>
          <a:p>
            <a:pPr algn="r" eaLnBrk="1" hangingPunct="1"/>
            <a:r>
              <a:rPr lang="en-US" altLang="zh-CN"/>
              <a:t>——————————</a:t>
            </a:r>
          </a:p>
          <a:p>
            <a:pPr algn="r" eaLnBrk="1" hangingPunct="1"/>
            <a:r>
              <a:rPr lang="en-US" altLang="zh-CN"/>
              <a:t>6092</a:t>
            </a:r>
          </a:p>
          <a:p>
            <a:pPr algn="r" eaLnBrk="1" hangingPunct="1"/>
            <a:endParaRPr lang="en-US" altLang="zh-CN"/>
          </a:p>
          <a:p>
            <a:pPr algn="r" eaLnBrk="1" hangingPunct="1"/>
            <a:r>
              <a:rPr lang="en-US" altLang="zh-CN"/>
              <a:t>H(key) = 6092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除留余数法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取关键字被某个不大于哈希表表长</a:t>
            </a:r>
            <a:r>
              <a:rPr lang="en-US" altLang="zh-CN"/>
              <a:t>m</a:t>
            </a:r>
            <a:r>
              <a:rPr lang="zh-CN" altLang="en-US"/>
              <a:t>的数</a:t>
            </a:r>
            <a:r>
              <a:rPr lang="en-US" altLang="zh-CN"/>
              <a:t>p</a:t>
            </a:r>
            <a:r>
              <a:rPr lang="zh-CN" altLang="en-US"/>
              <a:t>除后所得余数为哈希地址</a:t>
            </a: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最常用的方法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</a:p>
          <a:p>
            <a:pPr>
              <a:buFontTx/>
              <a:buNone/>
            </a:pPr>
            <a:r>
              <a:rPr lang="en-US" altLang="zh-CN"/>
              <a:t>		H(key)=key % p,  p&lt;=m</a:t>
            </a:r>
          </a:p>
          <a:p>
            <a:r>
              <a:rPr lang="zh-CN" altLang="en-US"/>
              <a:t>其中，</a:t>
            </a:r>
            <a:r>
              <a:rPr lang="en-US" altLang="zh-CN"/>
              <a:t>p</a:t>
            </a:r>
            <a:r>
              <a:rPr lang="zh-CN" altLang="en-US"/>
              <a:t>一般取：</a:t>
            </a:r>
            <a:endParaRPr lang="en-US" altLang="zh-CN"/>
          </a:p>
          <a:p>
            <a:pPr lvl="1"/>
            <a:r>
              <a:rPr lang="zh-CN" altLang="en-US"/>
              <a:t>最接近</a:t>
            </a:r>
            <a:r>
              <a:rPr lang="en-US" altLang="zh-CN"/>
              <a:t>m</a:t>
            </a:r>
            <a:r>
              <a:rPr lang="zh-CN" altLang="en-US"/>
              <a:t>的质数</a:t>
            </a:r>
            <a:endParaRPr lang="en-US" altLang="zh-CN"/>
          </a:p>
          <a:p>
            <a:pPr lvl="1"/>
            <a:r>
              <a:rPr lang="zh-CN" altLang="en-US"/>
              <a:t>或者不包含小于</a:t>
            </a:r>
            <a:r>
              <a:rPr lang="en-US" altLang="zh-CN"/>
              <a:t>20</a:t>
            </a:r>
            <a:r>
              <a:rPr lang="zh-CN" altLang="en-US"/>
              <a:t>的质因数的合数</a:t>
            </a: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4F7096-07F2-462D-A808-D933868ADB31}" type="slidenum">
              <a:rPr lang="en-US" altLang="en-US">
                <a:solidFill>
                  <a:srgbClr val="4B4B4B"/>
                </a:solidFill>
              </a:rPr>
              <a:t>34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关键问题二：处理冲突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线性开型寻址法（线性探测法）</a:t>
            </a:r>
            <a:endParaRPr lang="en-US" altLang="zh-CN"/>
          </a:p>
          <a:p>
            <a:r>
              <a:rPr lang="zh-CN" altLang="en-US"/>
              <a:t>二次探测法</a:t>
            </a:r>
            <a:endParaRPr lang="en-US" altLang="zh-CN"/>
          </a:p>
          <a:p>
            <a:r>
              <a:rPr lang="zh-CN" altLang="en-US"/>
              <a:t>双散列法（再哈希法）</a:t>
            </a:r>
            <a:endParaRPr lang="en-US" altLang="zh-CN"/>
          </a:p>
          <a:p>
            <a:r>
              <a:rPr lang="zh-CN" altLang="en-US"/>
              <a:t>链表法（拉链法、链地址法）</a:t>
            </a: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C30781-AAA9-4016-A0DA-17BC5BC9AD5C}" type="slidenum">
              <a:rPr lang="en-US" altLang="en-US">
                <a:solidFill>
                  <a:srgbClr val="4B4B4B"/>
                </a:solidFill>
              </a:rPr>
              <a:t>35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线性开型寻址法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开地址法</a:t>
            </a:r>
            <a:endParaRPr lang="en-US" altLang="zh-CN"/>
          </a:p>
          <a:p>
            <a:pPr lvl="1"/>
            <a:r>
              <a:rPr lang="zh-CN" altLang="en-US"/>
              <a:t>可存放新表项的空闲位置既向它的同义词表项开放，又向它的非同义词表项开放</a:t>
            </a:r>
            <a:endParaRPr lang="en-US" altLang="zh-CN"/>
          </a:p>
          <a:p>
            <a:pPr lvl="1"/>
            <a:r>
              <a:rPr lang="zh-CN" altLang="en-US"/>
              <a:t>这里的同义词是指那些散列地址相同的不同关键字</a:t>
            </a: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4D7A23B-DBF1-40A7-BFAB-E3AFDBC5BB79}" type="slidenum">
              <a:rPr lang="en-US" altLang="en-US">
                <a:solidFill>
                  <a:srgbClr val="4B4B4B"/>
                </a:solidFill>
              </a:rPr>
              <a:t>36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线性开型寻址法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使用某一种散列函数计算出初始散列地址</a:t>
            </a:r>
            <a:r>
              <a:rPr lang="en-US" altLang="zh-CN"/>
              <a:t>H0</a:t>
            </a:r>
            <a:r>
              <a:rPr lang="zh-CN" altLang="en-US"/>
              <a:t>，一旦发生冲突，在表中顺次向后寻找“下一个”空闲位置</a:t>
            </a:r>
            <a:r>
              <a:rPr lang="en-US" altLang="zh-CN"/>
              <a:t>Hi</a:t>
            </a:r>
            <a:r>
              <a:rPr lang="zh-CN" altLang="en-US"/>
              <a:t>的公式为：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		H</a:t>
            </a:r>
            <a:r>
              <a:rPr lang="en-US" altLang="zh-CN" baseline="-25000"/>
              <a:t>i</a:t>
            </a:r>
            <a:r>
              <a:rPr lang="en-US" altLang="zh-CN"/>
              <a:t>=(H</a:t>
            </a:r>
            <a:r>
              <a:rPr lang="en-US" altLang="zh-CN" baseline="-25000"/>
              <a:t>i-1</a:t>
            </a:r>
            <a:r>
              <a:rPr lang="en-US" altLang="zh-CN"/>
              <a:t>+d) % m</a:t>
            </a:r>
          </a:p>
          <a:p>
            <a:r>
              <a:rPr lang="zh-CN" altLang="en-US"/>
              <a:t>其中，</a:t>
            </a:r>
            <a:r>
              <a:rPr lang="en-US" altLang="zh-CN"/>
              <a:t>d=1</a:t>
            </a:r>
            <a:endParaRPr lang="zh-CN" altLang="en-US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11F790B-7C96-486D-BD15-9DD0824CF5B5}" type="slidenum">
              <a:rPr lang="en-US" altLang="en-US">
                <a:solidFill>
                  <a:srgbClr val="4B4B4B"/>
                </a:solidFill>
              </a:rPr>
              <a:t>37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线性探测法示例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hash</a:t>
            </a:r>
            <a:r>
              <a:rPr lang="zh-CN" altLang="en-US"/>
              <a:t>函数：除留余数法，</a:t>
            </a:r>
            <a:r>
              <a:rPr lang="en-US" altLang="zh-CN"/>
              <a:t>h(k) = k % m</a:t>
            </a:r>
          </a:p>
          <a:p>
            <a:r>
              <a:rPr lang="zh-CN" altLang="en-US"/>
              <a:t>例：桶数</a:t>
            </a:r>
            <a:r>
              <a:rPr lang="en-US" altLang="zh-CN"/>
              <a:t>m=11</a:t>
            </a:r>
          </a:p>
        </p:txBody>
      </p:sp>
      <p:pic>
        <p:nvPicPr>
          <p:cNvPr id="62468" name="Picture 4" descr="h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76600"/>
            <a:ext cx="84359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线性探测法实例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3810000"/>
          </a:xfrm>
        </p:spPr>
        <p:txBody>
          <a:bodyPr/>
          <a:lstStyle/>
          <a:p>
            <a:r>
              <a:rPr lang="zh-CN" altLang="en-US"/>
              <a:t>接上例，</a:t>
            </a:r>
            <a:r>
              <a:rPr lang="en-US" altLang="zh-CN"/>
              <a:t>hash</a:t>
            </a:r>
            <a:r>
              <a:rPr lang="zh-CN" altLang="en-US"/>
              <a:t>表中已保存了</a:t>
            </a:r>
            <a:r>
              <a:rPr lang="en-US" altLang="zh-CN"/>
              <a:t>80</a:t>
            </a:r>
            <a:r>
              <a:rPr lang="zh-CN" altLang="en-US"/>
              <a:t>和</a:t>
            </a:r>
            <a:r>
              <a:rPr lang="en-US" altLang="zh-CN"/>
              <a:t>40</a:t>
            </a:r>
          </a:p>
          <a:p>
            <a:r>
              <a:rPr lang="zh-CN" altLang="en-US"/>
              <a:t>插入</a:t>
            </a:r>
            <a:r>
              <a:rPr lang="en-US" altLang="zh-CN"/>
              <a:t>58</a:t>
            </a:r>
            <a:r>
              <a:rPr lang="zh-CN" altLang="en-US"/>
              <a:t>，</a:t>
            </a:r>
            <a:r>
              <a:rPr lang="en-US" altLang="zh-CN"/>
              <a:t>58%11=3</a:t>
            </a:r>
            <a:r>
              <a:rPr lang="zh-CN" altLang="en-US"/>
              <a:t>，与</a:t>
            </a:r>
            <a:r>
              <a:rPr lang="en-US" altLang="zh-CN"/>
              <a:t>80</a:t>
            </a:r>
            <a:r>
              <a:rPr lang="zh-CN" altLang="en-US"/>
              <a:t>冲突，从</a:t>
            </a:r>
            <a:r>
              <a:rPr lang="en-US" altLang="zh-CN"/>
              <a:t>4</a:t>
            </a:r>
            <a:r>
              <a:rPr lang="zh-CN" altLang="en-US"/>
              <a:t>开始检测空桶，插入位置</a:t>
            </a:r>
            <a:r>
              <a:rPr lang="en-US" altLang="zh-CN"/>
              <a:t>4</a:t>
            </a:r>
          </a:p>
        </p:txBody>
      </p:sp>
      <p:pic>
        <p:nvPicPr>
          <p:cNvPr id="63492" name="Picture 4" descr="linearopen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435975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搜索操作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2686050"/>
          </a:xfrm>
        </p:spPr>
        <p:txBody>
          <a:bodyPr/>
          <a:lstStyle/>
          <a:p>
            <a:r>
              <a:rPr lang="zh-CN" altLang="en-US"/>
              <a:t>插入</a:t>
            </a:r>
            <a:r>
              <a:rPr lang="en-US" altLang="zh-CN"/>
              <a:t>35</a:t>
            </a:r>
            <a:r>
              <a:rPr lang="zh-CN" altLang="en-US"/>
              <a:t>，经过几次冲突，最终放置于哈希地址</a:t>
            </a:r>
            <a:r>
              <a:rPr lang="en-US" altLang="zh-CN"/>
              <a:t>5</a:t>
            </a:r>
          </a:p>
          <a:p>
            <a:r>
              <a:rPr lang="zh-CN" altLang="en-US"/>
              <a:t>从</a:t>
            </a:r>
            <a:r>
              <a:rPr lang="en-US" altLang="zh-CN"/>
              <a:t>h(k)</a:t>
            </a:r>
            <a:r>
              <a:rPr lang="zh-CN" altLang="en-US"/>
              <a:t>开始顺序检查，直到某个桶满足：</a:t>
            </a:r>
          </a:p>
          <a:p>
            <a:pPr lvl="1"/>
            <a:r>
              <a:rPr lang="zh-CN" altLang="en-US"/>
              <a:t>关键字与目标关键字相同，搜索成功</a:t>
            </a:r>
          </a:p>
          <a:p>
            <a:pPr lvl="1"/>
            <a:r>
              <a:rPr lang="zh-CN" altLang="en-US"/>
              <a:t>空桶或回到</a:t>
            </a:r>
            <a:r>
              <a:rPr lang="en-US" altLang="zh-CN"/>
              <a:t>h(k)</a:t>
            </a:r>
            <a:r>
              <a:rPr lang="zh-CN" altLang="en-US"/>
              <a:t>，搜索失败</a:t>
            </a:r>
          </a:p>
        </p:txBody>
      </p:sp>
      <p:pic>
        <p:nvPicPr>
          <p:cNvPr id="64516" name="Picture 4" descr="linearopen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66125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搜索操作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743200"/>
            <a:ext cx="7772400" cy="3962400"/>
          </a:xfrm>
        </p:spPr>
        <p:txBody>
          <a:bodyPr/>
          <a:lstStyle/>
          <a:p>
            <a:r>
              <a:rPr lang="zh-CN" altLang="en-US"/>
              <a:t>搜索</a:t>
            </a:r>
            <a:r>
              <a:rPr lang="en-US" altLang="zh-CN"/>
              <a:t>35</a:t>
            </a:r>
            <a:r>
              <a:rPr lang="zh-CN" altLang="en-US"/>
              <a:t>，</a:t>
            </a:r>
            <a:r>
              <a:rPr lang="en-US" altLang="zh-CN"/>
              <a:t>h(35)=2</a:t>
            </a:r>
          </a:p>
          <a:p>
            <a:pPr lvl="1"/>
            <a:r>
              <a:rPr lang="en-US" altLang="zh-CN"/>
              <a:t>2</a:t>
            </a:r>
            <a:r>
              <a:rPr lang="zh-CN" altLang="en-US"/>
              <a:t>号桶，关键字不符；</a:t>
            </a:r>
            <a:r>
              <a:rPr lang="en-US" altLang="zh-CN"/>
              <a:t>3</a:t>
            </a:r>
            <a:r>
              <a:rPr lang="zh-CN" altLang="en-US"/>
              <a:t>号，不符；</a:t>
            </a:r>
            <a:r>
              <a:rPr lang="en-US" altLang="zh-CN"/>
              <a:t>4</a:t>
            </a:r>
            <a:r>
              <a:rPr lang="zh-CN" altLang="en-US"/>
              <a:t>号，不符；</a:t>
            </a:r>
            <a:r>
              <a:rPr lang="en-US" altLang="zh-CN"/>
              <a:t>5</a:t>
            </a:r>
            <a:r>
              <a:rPr lang="zh-CN" altLang="en-US"/>
              <a:t>号，成功</a:t>
            </a:r>
          </a:p>
          <a:p>
            <a:r>
              <a:rPr lang="zh-CN" altLang="en-US"/>
              <a:t>搜索</a:t>
            </a:r>
            <a:r>
              <a:rPr lang="en-US" altLang="zh-CN"/>
              <a:t>46</a:t>
            </a:r>
            <a:r>
              <a:rPr lang="zh-CN" altLang="en-US"/>
              <a:t>，</a:t>
            </a:r>
            <a:r>
              <a:rPr lang="en-US" altLang="zh-CN"/>
              <a:t>h(46)=2</a:t>
            </a:r>
          </a:p>
          <a:p>
            <a:pPr lvl="1"/>
            <a:r>
              <a:rPr lang="en-US" altLang="zh-CN"/>
              <a:t>2</a:t>
            </a:r>
            <a:r>
              <a:rPr lang="zh-CN" altLang="en-US"/>
              <a:t>号</a:t>
            </a:r>
            <a:r>
              <a:rPr lang="en-US" altLang="zh-CN"/>
              <a:t>-5</a:t>
            </a:r>
            <a:r>
              <a:rPr lang="zh-CN" altLang="en-US"/>
              <a:t>号，不符；</a:t>
            </a:r>
            <a:r>
              <a:rPr lang="en-US" altLang="zh-CN"/>
              <a:t>6</a:t>
            </a:r>
            <a:r>
              <a:rPr lang="zh-CN" altLang="en-US"/>
              <a:t>号为空，失败</a:t>
            </a:r>
          </a:p>
        </p:txBody>
      </p:sp>
      <p:pic>
        <p:nvPicPr>
          <p:cNvPr id="65540" name="Picture 4" descr="linearopen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366125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删除操作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3429000"/>
          </a:xfrm>
        </p:spPr>
        <p:txBody>
          <a:bodyPr/>
          <a:lstStyle/>
          <a:p>
            <a:r>
              <a:rPr lang="zh-CN" altLang="en-US"/>
              <a:t>不能简单删除，会影响后续搜索操作</a:t>
            </a:r>
          </a:p>
          <a:p>
            <a:pPr lvl="1"/>
            <a:r>
              <a:rPr lang="zh-CN" altLang="en-US"/>
              <a:t>删除</a:t>
            </a:r>
            <a:r>
              <a:rPr lang="en-US" altLang="zh-CN"/>
              <a:t>80</a:t>
            </a:r>
            <a:r>
              <a:rPr lang="zh-CN" altLang="en-US"/>
              <a:t>，会造成</a:t>
            </a:r>
            <a:r>
              <a:rPr lang="en-US" altLang="zh-CN"/>
              <a:t>58</a:t>
            </a:r>
            <a:r>
              <a:rPr lang="zh-CN" altLang="en-US"/>
              <a:t>、</a:t>
            </a:r>
            <a:r>
              <a:rPr lang="en-US" altLang="zh-CN"/>
              <a:t>35</a:t>
            </a:r>
            <a:r>
              <a:rPr lang="zh-CN" altLang="en-US"/>
              <a:t>搜索失败</a:t>
            </a:r>
          </a:p>
          <a:p>
            <a:pPr lvl="1"/>
            <a:r>
              <a:rPr lang="zh-CN" altLang="en-US"/>
              <a:t>删除</a:t>
            </a:r>
            <a:r>
              <a:rPr lang="en-US" altLang="zh-CN"/>
              <a:t>58</a:t>
            </a:r>
            <a:r>
              <a:rPr lang="zh-CN" altLang="en-US"/>
              <a:t>，会造成搜索</a:t>
            </a:r>
            <a:r>
              <a:rPr lang="en-US" altLang="zh-CN"/>
              <a:t>35</a:t>
            </a:r>
            <a:r>
              <a:rPr lang="zh-CN" altLang="en-US"/>
              <a:t>失败</a:t>
            </a:r>
          </a:p>
        </p:txBody>
      </p:sp>
      <p:pic>
        <p:nvPicPr>
          <p:cNvPr id="66564" name="Picture 4" descr="linearopen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66125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HashTable</a:t>
            </a:r>
            <a:r>
              <a:rPr lang="zh-CN" altLang="en-US"/>
              <a:t>类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(int divisor = 11); 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() {delete []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;  delete [] empty;}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bool Search(const K&amp; k) const;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void Insert(const pair&lt;const K, E&gt;&amp; p );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void Output();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output the hash table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HashTable</a:t>
            </a:r>
            <a:r>
              <a:rPr lang="zh-CN" altLang="en-US"/>
              <a:t>类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int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hSearch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(const K&amp; k) const;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int m;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hash function divisor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pair&lt;const K, E&gt; *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// hash table array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bool *empty;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1D array</a:t>
            </a:r>
          </a:p>
          <a:p>
            <a:pPr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构造函数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&lt;E,K&gt;::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(int divisor)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Constructor.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m = divisor;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// allocate hash table arrays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new pair&lt;const K, E&gt; [m];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empty = new bool [m];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set all buckets to empty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&lt; m;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empty[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] = true;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辅助函数</a:t>
            </a:r>
            <a:r>
              <a:rPr lang="en-US" altLang="zh-CN"/>
              <a:t>hSearch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&lt;E,K&gt;::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hSearch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(const K&amp; k) const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Search an open addressed table.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// Return location of k if present.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// Otherwise return insert point if there is space.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= k % m;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home bucket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j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;  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start at home bucket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do {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if (empty[j] ||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[j]-&gt;first == k) return j;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j = (j + 1) % m;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next bucket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while (j !=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returned to home?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return j;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table full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70660" name="Text Box 5"/>
          <p:cNvSpPr txBox="1">
            <a:spLocks noChangeArrowheads="1"/>
          </p:cNvSpPr>
          <p:nvPr/>
        </p:nvSpPr>
        <p:spPr bwMode="ltGray">
          <a:xfrm>
            <a:off x="6192207" y="4689161"/>
            <a:ext cx="2743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hlink"/>
                </a:solidFill>
              </a:rPr>
              <a:t>三种返回情况：</a:t>
            </a:r>
            <a:br>
              <a:rPr lang="zh-CN" altLang="en-US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1</a:t>
            </a:r>
            <a:r>
              <a:rPr lang="zh-CN" altLang="en-US" sz="2000" dirty="0">
                <a:solidFill>
                  <a:schemeClr val="hlink"/>
                </a:solidFill>
              </a:rPr>
              <a:t>、</a:t>
            </a:r>
            <a:r>
              <a:rPr lang="en-US" altLang="zh-CN" sz="2000" dirty="0">
                <a:solidFill>
                  <a:schemeClr val="hlink"/>
                </a:solidFill>
              </a:rPr>
              <a:t>empty[b]=true</a:t>
            </a:r>
            <a:r>
              <a:rPr lang="zh-CN" altLang="en-US" sz="2000" dirty="0">
                <a:solidFill>
                  <a:schemeClr val="hlink"/>
                </a:solidFill>
              </a:rPr>
              <a:t>，可插入该位置</a:t>
            </a:r>
            <a:br>
              <a:rPr lang="zh-CN" altLang="en-US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2</a:t>
            </a:r>
            <a:r>
              <a:rPr lang="zh-CN" altLang="en-US" sz="2000" dirty="0">
                <a:solidFill>
                  <a:schemeClr val="hlink"/>
                </a:solidFill>
              </a:rPr>
              <a:t>、</a:t>
            </a:r>
            <a:r>
              <a:rPr lang="en-US" altLang="zh-CN" sz="2000" dirty="0" err="1">
                <a:solidFill>
                  <a:schemeClr val="hlink"/>
                </a:solidFill>
              </a:rPr>
              <a:t>ht</a:t>
            </a:r>
            <a:r>
              <a:rPr lang="en-US" altLang="zh-CN" sz="2000" dirty="0">
                <a:solidFill>
                  <a:schemeClr val="hlink"/>
                </a:solidFill>
              </a:rPr>
              <a:t>[j]=k</a:t>
            </a:r>
            <a:r>
              <a:rPr lang="zh-CN" altLang="en-US" sz="2000" dirty="0">
                <a:solidFill>
                  <a:schemeClr val="hlink"/>
                </a:solidFill>
              </a:rPr>
              <a:t>，</a:t>
            </a:r>
            <a:br>
              <a:rPr lang="zh-CN" altLang="en-US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3</a:t>
            </a:r>
            <a:r>
              <a:rPr lang="zh-CN" altLang="en-US" sz="2000" dirty="0">
                <a:solidFill>
                  <a:schemeClr val="hlink"/>
                </a:solidFill>
              </a:rPr>
              <a:t>、</a:t>
            </a:r>
            <a:r>
              <a:rPr lang="en-US" altLang="zh-CN" sz="2000" dirty="0" err="1">
                <a:solidFill>
                  <a:schemeClr val="hlink"/>
                </a:solidFill>
              </a:rPr>
              <a:t>ht</a:t>
            </a:r>
            <a:r>
              <a:rPr lang="en-US" altLang="zh-CN" sz="2000" dirty="0">
                <a:solidFill>
                  <a:schemeClr val="hlink"/>
                </a:solidFill>
              </a:rPr>
              <a:t>[b]&lt;&gt;k</a:t>
            </a:r>
            <a:r>
              <a:rPr lang="zh-CN" altLang="en-US" sz="2000" dirty="0">
                <a:solidFill>
                  <a:schemeClr val="hlink"/>
                </a:solidFill>
              </a:rPr>
              <a:t>，且</a:t>
            </a:r>
            <a:r>
              <a:rPr lang="en-US" altLang="zh-CN" sz="2000" dirty="0">
                <a:solidFill>
                  <a:schemeClr val="hlink"/>
                </a:solidFill>
              </a:rPr>
              <a:t>empty[b]=false</a:t>
            </a:r>
            <a:r>
              <a:rPr lang="zh-CN" altLang="en-US" sz="2000" dirty="0">
                <a:solidFill>
                  <a:schemeClr val="hlink"/>
                </a:solidFill>
              </a:rPr>
              <a:t>，表满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搜索函数</a:t>
            </a:r>
            <a:r>
              <a:rPr lang="en-US" altLang="zh-CN"/>
              <a:t>Search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bool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&lt;E,K&gt;::Search(const K&amp; k) const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Put element that matches k in e.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// Return false if no match.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int b =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hSearch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(k);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if (empty[b] ||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[b]-&gt;first != k) return false;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	return true;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插入操作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55000" cy="4570412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void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HashTable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&lt;E,K&gt;::Insert(const pair&lt;const K, E&gt;&amp; p 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Hash table insert.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int b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hSearch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p.first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check if insert is to be done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(empty[b]) {empty[b] = false;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[b] = new pair&lt;const K, E&gt;(p);}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else{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		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no insert, change or full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		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[b]-&gt;first == k) {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[b]-&gt;second = 			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p.second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		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else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NoMem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table full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线性探测法的特点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</a:p>
          <a:p>
            <a:pPr lvl="1"/>
            <a:r>
              <a:rPr lang="zh-CN" altLang="en-US" dirty="0"/>
              <a:t>简单</a:t>
            </a:r>
          </a:p>
          <a:p>
            <a:pPr lvl="1"/>
            <a:r>
              <a:rPr lang="zh-CN" altLang="en-US" dirty="0"/>
              <a:t>只要表不满，总可以找到空位，插入成功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线性探测法的特点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缺点</a:t>
            </a:r>
          </a:p>
          <a:p>
            <a:pPr lvl="1"/>
            <a:r>
              <a:rPr lang="zh-CN" altLang="en-US"/>
              <a:t>聚集问题</a:t>
            </a:r>
            <a:br>
              <a:rPr lang="zh-CN" altLang="en-US"/>
            </a:br>
            <a:r>
              <a:rPr lang="en-US" altLang="zh-CN"/>
              <a:t>h(k</a:t>
            </a:r>
            <a:r>
              <a:rPr lang="en-US" altLang="zh-CN" baseline="-25000"/>
              <a:t>1</a:t>
            </a:r>
            <a:r>
              <a:rPr lang="en-US" altLang="zh-CN"/>
              <a:t>)=i</a:t>
            </a:r>
            <a:r>
              <a:rPr lang="zh-CN" altLang="en-US"/>
              <a:t>，</a:t>
            </a:r>
            <a:r>
              <a:rPr lang="en-US" altLang="zh-CN"/>
              <a:t>h(k</a:t>
            </a:r>
            <a:r>
              <a:rPr lang="en-US" altLang="zh-CN" baseline="-25000"/>
              <a:t>2</a:t>
            </a:r>
            <a:r>
              <a:rPr lang="en-US" altLang="zh-CN"/>
              <a:t>)=j</a:t>
            </a:r>
            <a:r>
              <a:rPr lang="zh-CN" altLang="en-US"/>
              <a:t>，</a:t>
            </a:r>
            <a:r>
              <a:rPr lang="en-US" altLang="zh-CN"/>
              <a:t>k</a:t>
            </a:r>
            <a:r>
              <a:rPr lang="en-US" altLang="zh-CN" baseline="-25000"/>
              <a:t>1</a:t>
            </a:r>
            <a:r>
              <a:rPr lang="zh-CN" altLang="en-US"/>
              <a:t>可能占据</a:t>
            </a:r>
            <a:r>
              <a:rPr lang="en-US" altLang="zh-CN"/>
              <a:t>k</a:t>
            </a:r>
            <a:r>
              <a:rPr lang="en-US" altLang="zh-CN" baseline="-25000"/>
              <a:t>2</a:t>
            </a:r>
            <a:r>
              <a:rPr lang="zh-CN" altLang="en-US"/>
              <a:t>的</a:t>
            </a:r>
            <a:r>
              <a:rPr lang="en-US" altLang="zh-CN"/>
              <a:t>hash</a:t>
            </a:r>
            <a:r>
              <a:rPr lang="zh-CN" altLang="en-US"/>
              <a:t>表位置，从而可能在局部造成严重的聚集，性能急剧下降，即便</a:t>
            </a:r>
            <a:r>
              <a:rPr lang="en-US" altLang="zh-CN"/>
              <a:t>hash</a:t>
            </a:r>
            <a:r>
              <a:rPr lang="zh-CN" altLang="en-US"/>
              <a:t>表还很空</a:t>
            </a:r>
          </a:p>
          <a:p>
            <a:pPr lvl="1"/>
            <a:r>
              <a:rPr lang="zh-CN" altLang="en-US"/>
              <a:t>而当表较满时，性能几乎一定会很差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复杂性分析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572000"/>
          </a:xfrm>
        </p:spPr>
        <p:txBody>
          <a:bodyPr/>
          <a:lstStyle/>
          <a:p>
            <a:r>
              <a:rPr lang="zh-CN" altLang="en-US"/>
              <a:t>初始化： </a:t>
            </a:r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(m)</a:t>
            </a:r>
          </a:p>
          <a:p>
            <a:r>
              <a:rPr lang="zh-CN" altLang="en-US"/>
              <a:t>搜索、插入最坏情况： </a:t>
            </a:r>
            <a:r>
              <a:rPr lang="en-US" altLang="zh-CN">
                <a:cs typeface="Times New Roman" panose="02020603050405020304" pitchFamily="18" charset="0"/>
              </a:rPr>
              <a:t>Θ</a:t>
            </a:r>
            <a:r>
              <a:rPr lang="en-US" altLang="zh-CN"/>
              <a:t>(n)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平均情况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888288" cy="5257800"/>
          </a:xfrm>
        </p:spPr>
        <p:txBody>
          <a:bodyPr/>
          <a:lstStyle/>
          <a:p>
            <a:r>
              <a:rPr lang="en-US" altLang="zh-CN" dirty="0"/>
              <a:t>U</a:t>
            </a:r>
            <a:r>
              <a:rPr lang="en-US" altLang="zh-CN" baseline="-25000" dirty="0"/>
              <a:t>n</a:t>
            </a:r>
            <a:r>
              <a:rPr lang="zh-CN" altLang="en-US" dirty="0"/>
              <a:t>：一次不成功搜索平均检查的桶的数目</a:t>
            </a:r>
          </a:p>
          <a:p>
            <a:r>
              <a:rPr lang="en-US" altLang="zh-CN" dirty="0"/>
              <a:t>S</a:t>
            </a:r>
            <a:r>
              <a:rPr lang="en-US" altLang="zh-CN" baseline="-25000" dirty="0"/>
              <a:t>n</a:t>
            </a:r>
            <a:r>
              <a:rPr lang="zh-CN" altLang="en-US" dirty="0"/>
              <a:t>：一次成功搜索平均检查的桶的数目</a:t>
            </a:r>
          </a:p>
          <a:p>
            <a:pPr lvl="1"/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en-US" altLang="zh-CN" dirty="0"/>
              <a:t>=n/m</a:t>
            </a:r>
            <a:r>
              <a:rPr lang="zh-CN" altLang="en-US" dirty="0"/>
              <a:t>：负载因子</a:t>
            </a:r>
            <a:r>
              <a:rPr lang="en-US" altLang="zh-CN" dirty="0"/>
              <a:t>——hash</a:t>
            </a:r>
            <a:r>
              <a:rPr lang="zh-CN" altLang="en-US" dirty="0"/>
              <a:t>表满的程度</a:t>
            </a:r>
          </a:p>
          <a:p>
            <a:pPr lvl="1"/>
            <a:r>
              <a:rPr lang="en-US" altLang="zh-CN" dirty="0"/>
              <a:t>0.5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en-US" altLang="zh-CN" baseline="-25000" dirty="0"/>
              <a:t>n</a:t>
            </a:r>
            <a:r>
              <a:rPr lang="en-US" altLang="zh-CN" dirty="0"/>
              <a:t>=1.5</a:t>
            </a:r>
            <a:r>
              <a:rPr lang="zh-CN" altLang="en-US" dirty="0"/>
              <a:t>，</a:t>
            </a:r>
            <a:r>
              <a:rPr lang="en-US" altLang="zh-CN" dirty="0"/>
              <a:t>U</a:t>
            </a:r>
            <a:r>
              <a:rPr lang="en-US" altLang="zh-CN" baseline="-25000" dirty="0"/>
              <a:t>n</a:t>
            </a:r>
            <a:r>
              <a:rPr lang="en-US" altLang="zh-CN" dirty="0"/>
              <a:t>=2.5</a:t>
            </a:r>
          </a:p>
          <a:p>
            <a:pPr lvl="1"/>
            <a:r>
              <a:rPr lang="en-US" altLang="zh-CN" dirty="0"/>
              <a:t>0.8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en-US" altLang="zh-CN" baseline="-25000" dirty="0"/>
              <a:t>n</a:t>
            </a:r>
            <a:r>
              <a:rPr lang="en-US" altLang="zh-CN" dirty="0"/>
              <a:t>=5.5</a:t>
            </a:r>
            <a:r>
              <a:rPr lang="zh-CN" altLang="en-US" dirty="0"/>
              <a:t>，</a:t>
            </a:r>
            <a:r>
              <a:rPr lang="en-US" altLang="zh-CN" dirty="0"/>
              <a:t>U</a:t>
            </a:r>
            <a:r>
              <a:rPr lang="en-US" altLang="zh-CN" baseline="-25000" dirty="0"/>
              <a:t>n</a:t>
            </a:r>
            <a:r>
              <a:rPr lang="en-US" altLang="zh-CN" dirty="0"/>
              <a:t>=50.5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752600" y="2514600"/>
          <a:ext cx="63246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7000" imgH="457200" progId="Equation.3">
                  <p:embed/>
                </p:oleObj>
              </mc:Choice>
              <mc:Fallback>
                <p:oleObj name="Equation" r:id="rId2" imgW="26670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14600"/>
                        <a:ext cx="63246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二次探测法</a:t>
            </a:r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线性探测的缺点：聚集</a:t>
            </a:r>
            <a:r>
              <a:rPr lang="en-US" altLang="zh-CN"/>
              <a:t>——h(k)</a:t>
            </a:r>
            <a:r>
              <a:rPr lang="zh-CN" altLang="en-US"/>
              <a:t>不相同的（相近的）关键字发生冲突</a:t>
            </a:r>
          </a:p>
          <a:p>
            <a:r>
              <a:rPr lang="zh-CN" altLang="en-US"/>
              <a:t>平方探测法：</a:t>
            </a:r>
            <a:r>
              <a:rPr lang="en-US" altLang="zh-CN"/>
              <a:t>d=i</a:t>
            </a:r>
            <a:r>
              <a:rPr lang="en-US" altLang="zh-CN" baseline="30000"/>
              <a:t>2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探测</a:t>
            </a:r>
            <a:r>
              <a:rPr lang="en-US" altLang="zh-CN"/>
              <a:t>h(k)</a:t>
            </a:r>
            <a:r>
              <a:rPr lang="zh-CN" altLang="en-US"/>
              <a:t>、</a:t>
            </a:r>
            <a:r>
              <a:rPr lang="en-US" altLang="zh-CN"/>
              <a:t>h(k)+1</a:t>
            </a:r>
            <a:r>
              <a:rPr lang="zh-CN" altLang="en-US"/>
              <a:t>、</a:t>
            </a:r>
            <a:r>
              <a:rPr lang="en-US" altLang="zh-CN"/>
              <a:t>h(k)+4</a:t>
            </a:r>
            <a:r>
              <a:rPr lang="zh-CN" altLang="en-US"/>
              <a:t>、</a:t>
            </a:r>
            <a:r>
              <a:rPr lang="en-US" altLang="zh-CN"/>
              <a:t>…</a:t>
            </a:r>
          </a:p>
          <a:p>
            <a:endParaRPr lang="zh-CN" altLang="en-US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7F4FC7-C2C4-4A51-B758-EB9ADC2B3450}" type="slidenum">
              <a:rPr lang="en-US" altLang="en-US">
                <a:solidFill>
                  <a:srgbClr val="4B4B4B"/>
                </a:solidFill>
              </a:rPr>
              <a:t>53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与线性探测的比较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解决了局部聚集问题</a:t>
            </a:r>
          </a:p>
          <a:p>
            <a:r>
              <a:rPr lang="zh-CN" altLang="en-US"/>
              <a:t>缺点：在表不满的情况下，也不能保证插入肯定成功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双散列法</a:t>
            </a:r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需要两个散列函数</a:t>
            </a:r>
            <a:endParaRPr lang="en-US" altLang="zh-CN"/>
          </a:p>
          <a:p>
            <a:r>
              <a:rPr lang="zh-CN" altLang="en-US"/>
              <a:t>第一个散列函数计算关键字的首选地址</a:t>
            </a:r>
            <a:endParaRPr lang="en-US" altLang="zh-CN"/>
          </a:p>
          <a:p>
            <a:r>
              <a:rPr lang="zh-CN" altLang="en-US"/>
              <a:t>一旦发生冲突，用第二个散列函数计算到下一地址的增量；或者直接计算下一个地址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双散列法将冲突处理也“随机化”，避免了“聚集”</a:t>
            </a: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9D3817-E45E-45DD-9C70-B48AEC0A4187}" type="slidenum">
              <a:rPr lang="en-US" altLang="en-US">
                <a:solidFill>
                  <a:srgbClr val="4B4B4B"/>
                </a:solidFill>
              </a:rPr>
              <a:t>55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链表法</a:t>
            </a:r>
          </a:p>
        </p:txBody>
      </p:sp>
      <p:pic>
        <p:nvPicPr>
          <p:cNvPr id="79875" name="Picture 4" descr="ofch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12875"/>
            <a:ext cx="7161213" cy="506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Text Box 5"/>
          <p:cNvSpPr txBox="1">
            <a:spLocks noChangeArrowheads="1"/>
          </p:cNvSpPr>
          <p:nvPr/>
        </p:nvSpPr>
        <p:spPr bwMode="ltGray">
          <a:xfrm>
            <a:off x="5181600" y="2514600"/>
            <a:ext cx="39624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冲突：额外空间保存</a:t>
            </a:r>
            <a:r>
              <a:rPr lang="en-US" altLang="zh-CN" sz="2000">
                <a:solidFill>
                  <a:srgbClr val="FF0000"/>
                </a:solidFill>
              </a:rPr>
              <a:t>——</a:t>
            </a:r>
            <a:r>
              <a:rPr lang="zh-CN" altLang="en-US" sz="2000">
                <a:solidFill>
                  <a:srgbClr val="FF0000"/>
                </a:solidFill>
              </a:rPr>
              <a:t>链表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相同</a:t>
            </a:r>
            <a:r>
              <a:rPr lang="en-US" altLang="zh-CN" sz="2000">
                <a:solidFill>
                  <a:srgbClr val="FF0000"/>
                </a:solidFill>
              </a:rPr>
              <a:t>hash</a:t>
            </a:r>
            <a:r>
              <a:rPr lang="zh-CN" altLang="en-US" sz="2000">
                <a:solidFill>
                  <a:srgbClr val="FF0000"/>
                </a:solidFill>
              </a:rPr>
              <a:t>函数值元素</a:t>
            </a:r>
            <a:r>
              <a:rPr lang="zh-CN" altLang="en-US" sz="2000">
                <a:solidFill>
                  <a:srgbClr val="FF0000"/>
                </a:solidFill>
                <a:sym typeface="Wingdings" panose="05000000000000000000" pitchFamily="2" charset="2"/>
              </a:rPr>
              <a:t>一个链表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sym typeface="Wingdings" panose="05000000000000000000" pitchFamily="2" charset="2"/>
              </a:rPr>
              <a:t>冲突情况下的插入、删除、搜索链表的插入、删除、搜索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链表法思想</a:t>
            </a:r>
          </a:p>
        </p:txBody>
      </p:sp>
      <p:sp>
        <p:nvSpPr>
          <p:cNvPr id="808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通过哈希函数计算具有相同哈希地址的元素串在一个链表当中（归于一个子集合）</a:t>
            </a:r>
            <a:endParaRPr lang="en-US" altLang="zh-CN"/>
          </a:p>
          <a:p>
            <a:r>
              <a:rPr lang="zh-CN" altLang="en-US"/>
              <a:t>正常情况下，每个同义词链表长度都比较短，设有</a:t>
            </a:r>
            <a:r>
              <a:rPr lang="en-US" altLang="zh-CN"/>
              <a:t>n</a:t>
            </a:r>
            <a:r>
              <a:rPr lang="zh-CN" altLang="en-US"/>
              <a:t>个关键字存放到长度为</a:t>
            </a:r>
            <a:r>
              <a:rPr lang="en-US" altLang="zh-CN"/>
              <a:t>m</a:t>
            </a:r>
            <a:r>
              <a:rPr lang="zh-CN" altLang="en-US"/>
              <a:t>的散列表中，则每一个同义词链平均长度是</a:t>
            </a:r>
            <a:r>
              <a:rPr lang="en-US" altLang="zh-CN"/>
              <a:t>n/m</a:t>
            </a:r>
            <a:r>
              <a:rPr lang="zh-CN" altLang="en-US"/>
              <a:t>，效率可以接受</a:t>
            </a:r>
            <a:endParaRPr lang="en-US" altLang="zh-CN"/>
          </a:p>
          <a:p>
            <a:r>
              <a:rPr lang="zh-CN" altLang="en-US"/>
              <a:t>另一个优点是：除了解决冲突外，还可以解决溢出问题。</a:t>
            </a:r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13EA17-5CEA-4D5C-BC40-D85D6DADA1F4}" type="slidenum">
              <a:rPr lang="en-US" altLang="en-US">
                <a:solidFill>
                  <a:srgbClr val="4B4B4B"/>
                </a:solidFill>
              </a:rPr>
              <a:t>57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ChainHashTable</a:t>
            </a:r>
            <a:r>
              <a:rPr lang="zh-CN" altLang="en-US"/>
              <a:t>类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95413"/>
            <a:ext cx="7772400" cy="4724400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template&lt;class E, class K&gt;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class ChainHashTable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ChainHashTable(int divisor = 11)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   {m = divisor; ht = new SortedChain&lt;E,K&gt; [m];}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~ChainHashTable() {delete [] ht;}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bool Search(const K&amp; k, E&amp; e) const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     {return ht[k % m].Search(k, e);}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ChainHashTable</a:t>
            </a:r>
            <a:r>
              <a:rPr lang="zh-CN" altLang="en-US"/>
              <a:t>类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ChainHashTable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&lt;E,K&gt;&amp; Insert(const pair&lt;const K, E&gt;&amp; p 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{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[e % m].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DistinctInsert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(p); return *this;}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ChainHashTable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&lt;E,K&gt;&amp; Delete(const K&amp; k, E&amp; e)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     {</a:t>
            </a:r>
            <a:r>
              <a:rPr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[k % m].Delete(k, e); return *this;}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void Output() const; 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output the table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    int m;                 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// divisor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err="1">
                <a:solidFill>
                  <a:schemeClr val="accent2"/>
                </a:solidFill>
                <a:latin typeface="Tahoma" panose="020B0604030504040204" pitchFamily="34" charset="0"/>
              </a:rPr>
              <a:t>SortedChain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&lt;E,K&gt; *</a:t>
            </a:r>
            <a:r>
              <a:rPr lang="en-US" altLang="zh-CN" sz="2400" dirty="0" err="1">
                <a:solidFill>
                  <a:schemeClr val="accent2"/>
                </a:solidFill>
                <a:latin typeface="Tahoma" panose="020B0604030504040204" pitchFamily="34" charset="0"/>
              </a:rPr>
              <a:t>ht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;</a:t>
            </a:r>
            <a:r>
              <a:rPr lang="en-US" altLang="zh-CN" sz="2400" dirty="0">
                <a:solidFill>
                  <a:srgbClr val="008000"/>
                </a:solidFill>
                <a:latin typeface="Tahoma" panose="020B0604030504040204" pitchFamily="34" charset="0"/>
              </a:rPr>
              <a:t>  // array of chains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};</a:t>
            </a:r>
            <a:endParaRPr lang="en-US" altLang="zh-C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一点改进</a:t>
            </a:r>
          </a:p>
        </p:txBody>
      </p:sp>
      <p:pic>
        <p:nvPicPr>
          <p:cNvPr id="83971" name="Picture 4" descr="sentin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7785100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Text Box 6"/>
          <p:cNvSpPr txBox="1">
            <a:spLocks noChangeArrowheads="1"/>
          </p:cNvSpPr>
          <p:nvPr/>
        </p:nvSpPr>
        <p:spPr bwMode="ltGray">
          <a:xfrm>
            <a:off x="5181600" y="2057400"/>
            <a:ext cx="3962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每个链表尾增加一个关键字为极大值的节点（哨兵）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链表搜索程序循环条件：</a:t>
            </a:r>
            <a:br>
              <a:rPr lang="zh-CN" altLang="en-US" sz="2000">
                <a:solidFill>
                  <a:srgbClr val="FF0000"/>
                </a:solidFill>
              </a:rPr>
            </a:br>
            <a:r>
              <a:rPr lang="en-US" altLang="zh-CN" sz="2000">
                <a:solidFill>
                  <a:srgbClr val="FF0000"/>
                </a:solidFill>
              </a:rPr>
              <a:t>i &amp;&amp; (i-&gt;data&lt;k)</a:t>
            </a:r>
            <a:r>
              <a:rPr lang="en-US" altLang="zh-CN" sz="2000">
                <a:solidFill>
                  <a:srgbClr val="FF0000"/>
                </a:solidFill>
                <a:sym typeface="Wingdings" panose="05000000000000000000" pitchFamily="2" charset="2"/>
              </a:rPr>
              <a:t>i-&gt;data &lt; k</a:t>
            </a:r>
            <a:endParaRPr lang="en-US" altLang="zh-CN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溢出链表法时间复杂性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572000"/>
          </a:xfrm>
        </p:spPr>
        <p:txBody>
          <a:bodyPr/>
          <a:lstStyle/>
          <a:p>
            <a:r>
              <a:rPr lang="zh-CN" altLang="en-US"/>
              <a:t>链表长度为</a:t>
            </a:r>
            <a:r>
              <a:rPr lang="en-US" altLang="zh-CN"/>
              <a:t>i</a:t>
            </a:r>
            <a:r>
              <a:rPr lang="zh-CN" altLang="en-US"/>
              <a:t>，不成功搜索平均操作次数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平均链表长度</a:t>
            </a:r>
            <a:r>
              <a:rPr lang="en-US" altLang="zh-CN"/>
              <a:t>n/m=</a:t>
            </a:r>
            <a:r>
              <a:rPr lang="en-US" altLang="zh-CN">
                <a:latin typeface="Symbol" panose="05050102010706020507" pitchFamily="18" charset="2"/>
              </a:rPr>
              <a:t>a</a:t>
            </a:r>
            <a:r>
              <a:rPr lang="zh-CN" altLang="en-US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	代入上式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br>
              <a:rPr lang="zh-CN" altLang="en-US"/>
            </a:br>
            <a:r>
              <a:rPr lang="en-US" altLang="zh-CN">
                <a:latin typeface="Symbol" panose="05050102010706020507" pitchFamily="18" charset="2"/>
              </a:rPr>
              <a:t>a</a:t>
            </a:r>
            <a:r>
              <a:rPr lang="en-US" altLang="zh-CN"/>
              <a:t>&lt;1</a:t>
            </a:r>
            <a:r>
              <a:rPr lang="zh-CN" altLang="en-US"/>
              <a:t>时，</a:t>
            </a:r>
            <a:r>
              <a:rPr lang="en-US" altLang="zh-CN"/>
              <a:t>U</a:t>
            </a:r>
            <a:r>
              <a:rPr lang="en-US" altLang="zh-CN" baseline="-25000"/>
              <a:t>n</a:t>
            </a:r>
            <a:r>
              <a:rPr lang="en-US" altLang="zh-CN">
                <a:latin typeface="宋体" panose="02010600030101010101" pitchFamily="2" charset="-122"/>
                <a:sym typeface="Wingdings" panose="05000000000000000000" pitchFamily="2" charset="2"/>
              </a:rPr>
              <a:t>≤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895600" y="1905000"/>
          <a:ext cx="35052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65" imgH="444500" progId="Equation.3">
                  <p:embed/>
                </p:oleObj>
              </mc:Choice>
              <mc:Fallback>
                <p:oleObj name="Equation" r:id="rId2" imgW="1396365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05000"/>
                        <a:ext cx="35052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3352800" y="3581400"/>
          <a:ext cx="23860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165" imgH="393700" progId="Equation.3">
                  <p:embed/>
                </p:oleObj>
              </mc:Choice>
              <mc:Fallback>
                <p:oleObj name="Equation" r:id="rId4" imgW="1066165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581400"/>
                        <a:ext cx="238601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溢出链表法时间复杂性（续）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572000"/>
          </a:xfrm>
        </p:spPr>
        <p:txBody>
          <a:bodyPr/>
          <a:lstStyle/>
          <a:p>
            <a:r>
              <a:rPr lang="zh-CN" altLang="en-US">
                <a:sym typeface="Wingdings" panose="05000000000000000000" pitchFamily="2" charset="2"/>
              </a:rPr>
              <a:t>成功搜索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考虑关键字在链表中位置</a:t>
            </a:r>
          </a:p>
          <a:p>
            <a:pPr lvl="1"/>
            <a:r>
              <a:rPr lang="zh-CN" altLang="en-US">
                <a:sym typeface="Wingdings" panose="05000000000000000000" pitchFamily="2" charset="2"/>
              </a:rPr>
              <a:t>不妨假定关键字按升序插入</a:t>
            </a:r>
          </a:p>
          <a:p>
            <a:pPr lvl="1"/>
            <a:r>
              <a:rPr lang="zh-CN" altLang="en-US">
                <a:sym typeface="Wingdings" panose="05000000000000000000" pitchFamily="2" charset="2"/>
              </a:rPr>
              <a:t>插入第</a:t>
            </a:r>
            <a:r>
              <a:rPr lang="en-US" altLang="zh-CN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个关键字时，链表平均长度</a:t>
            </a:r>
            <a:r>
              <a:rPr lang="en-US" altLang="zh-CN">
                <a:sym typeface="Wingdings" panose="05000000000000000000" pitchFamily="2" charset="2"/>
              </a:rPr>
              <a:t>(i-1)/b</a:t>
            </a:r>
          </a:p>
          <a:p>
            <a:pPr lvl="1"/>
            <a:r>
              <a:rPr lang="zh-CN" altLang="en-US">
                <a:sym typeface="Wingdings" panose="05000000000000000000" pitchFamily="2" charset="2"/>
              </a:rPr>
              <a:t>而此关键字插入某个链表末尾，其搜索代价为</a:t>
            </a:r>
            <a:r>
              <a:rPr lang="en-US" altLang="zh-CN">
                <a:sym typeface="Wingdings" panose="05000000000000000000" pitchFamily="2" charset="2"/>
              </a:rPr>
              <a:t>1+(i-1)/b</a:t>
            </a:r>
            <a:r>
              <a:rPr lang="zh-CN" altLang="en-US">
                <a:sym typeface="Wingdings" panose="05000000000000000000" pitchFamily="2" charset="2"/>
              </a:rPr>
              <a:t>，因此有</a:t>
            </a:r>
          </a:p>
          <a:p>
            <a:endParaRPr lang="en-US" altLang="zh-CN">
              <a:sym typeface="Wingdings" panose="05000000000000000000" pitchFamily="2" charset="2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549400" y="3886200"/>
          <a:ext cx="69596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200" imgH="431800" progId="Equation.3">
                  <p:embed/>
                </p:oleObj>
              </mc:Choice>
              <mc:Fallback>
                <p:oleObj name="Equation" r:id="rId2" imgW="26162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3886200"/>
                        <a:ext cx="69596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</a:t>
            </a:r>
            <a:r>
              <a:rPr lang="zh-CN" altLang="en-US"/>
              <a:t>小结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散列表的两大关键</a:t>
            </a:r>
            <a:endParaRPr lang="en-US" altLang="zh-CN"/>
          </a:p>
          <a:p>
            <a:pPr lvl="1"/>
            <a:r>
              <a:rPr lang="zh-CN" altLang="en-US"/>
              <a:t>散列函数</a:t>
            </a:r>
            <a:endParaRPr lang="en-US" altLang="zh-CN"/>
          </a:p>
          <a:p>
            <a:pPr lvl="2">
              <a:buFontTx/>
              <a:buNone/>
            </a:pPr>
            <a:r>
              <a:rPr lang="en-US" altLang="zh-CN" i="1"/>
              <a:t>h(k) = k % D</a:t>
            </a:r>
          </a:p>
          <a:p>
            <a:pPr lvl="1"/>
            <a:r>
              <a:rPr lang="zh-CN" altLang="en-US"/>
              <a:t>解决冲突的策略</a:t>
            </a:r>
            <a:endParaRPr lang="en-US" altLang="zh-CN"/>
          </a:p>
          <a:p>
            <a:pPr lvl="2"/>
            <a:r>
              <a:rPr lang="zh-CN" altLang="en-US"/>
              <a:t>线性开型寻址：简单，但容易造成堆积</a:t>
            </a:r>
            <a:endParaRPr lang="en-US" altLang="zh-CN"/>
          </a:p>
          <a:p>
            <a:pPr lvl="2"/>
            <a:r>
              <a:rPr lang="zh-CN" altLang="en-US"/>
              <a:t>双散列开型寻址：稍复杂，可部分解决堆积（更随机）</a:t>
            </a:r>
            <a:endParaRPr lang="en-US" altLang="zh-CN"/>
          </a:p>
          <a:p>
            <a:pPr lvl="2"/>
            <a:r>
              <a:rPr lang="zh-CN" altLang="en-US"/>
              <a:t>链表法</a:t>
            </a: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1FADF2-DD92-438F-A285-1AA3883DEBEC}" type="slidenum">
              <a:rPr lang="en-US" altLang="en-US">
                <a:solidFill>
                  <a:srgbClr val="4B4B4B"/>
                </a:solidFill>
              </a:rPr>
              <a:t>63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假定关键字</a:t>
            </a:r>
            <a:r>
              <a:rPr lang="en-US" altLang="zh-CN" dirty="0"/>
              <a:t>K=2789465</a:t>
            </a:r>
            <a:r>
              <a:rPr lang="zh-CN" altLang="en-US" dirty="0"/>
              <a:t>，允许存储地址为三位十进制数，现得到的散列地址为</a:t>
            </a:r>
            <a:r>
              <a:rPr lang="en-US" altLang="zh-CN" dirty="0"/>
              <a:t>149</a:t>
            </a:r>
            <a:r>
              <a:rPr lang="zh-CN" altLang="en-US" dirty="0"/>
              <a:t>，则所采用的构建哈希函数的方法是</a:t>
            </a:r>
            <a:r>
              <a:rPr lang="en-US" altLang="zh-CN" dirty="0"/>
              <a:t>_______</a:t>
            </a:r>
            <a:r>
              <a:rPr lang="zh-CN" altLang="en-US" dirty="0"/>
              <a:t>。</a:t>
            </a:r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．除留余数法，模为</a:t>
            </a:r>
            <a:r>
              <a:rPr lang="en-US" altLang="zh-CN" dirty="0">
                <a:solidFill>
                  <a:srgbClr val="FF0000"/>
                </a:solidFill>
              </a:rPr>
              <a:t>23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008000"/>
                </a:solidFill>
              </a:rPr>
              <a:t>	B</a:t>
            </a:r>
            <a:r>
              <a:rPr lang="zh-CN" altLang="en-US" dirty="0">
                <a:solidFill>
                  <a:srgbClr val="008000"/>
                </a:solidFill>
              </a:rPr>
              <a:t>．平方取中法   </a:t>
            </a:r>
            <a:r>
              <a:rPr lang="en-US" altLang="zh-CN" dirty="0">
                <a:solidFill>
                  <a:srgbClr val="008000"/>
                </a:solidFill>
              </a:rPr>
              <a:t>2789465</a:t>
            </a:r>
            <a:r>
              <a:rPr lang="en-US" altLang="zh-CN" baseline="30000" dirty="0">
                <a:solidFill>
                  <a:srgbClr val="008000"/>
                </a:solidFill>
              </a:rPr>
              <a:t>2</a:t>
            </a:r>
            <a:r>
              <a:rPr lang="en-US" altLang="zh-CN" dirty="0">
                <a:solidFill>
                  <a:srgbClr val="008000"/>
                </a:solidFill>
              </a:rPr>
              <a:t>=77811</a:t>
            </a:r>
            <a:r>
              <a:rPr lang="en-US" altLang="zh-CN" dirty="0">
                <a:solidFill>
                  <a:srgbClr val="7030A0"/>
                </a:solidFill>
              </a:rPr>
              <a:t>149</a:t>
            </a:r>
            <a:r>
              <a:rPr lang="en-US" altLang="zh-CN" dirty="0">
                <a:solidFill>
                  <a:srgbClr val="008000"/>
                </a:solidFill>
              </a:rPr>
              <a:t>86225</a:t>
            </a:r>
            <a:endParaRPr lang="zh-CN" altLang="en-US" dirty="0">
              <a:solidFill>
                <a:srgbClr val="008000"/>
              </a:solidFill>
            </a:endParaRP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C</a:t>
            </a:r>
            <a:r>
              <a:rPr lang="zh-CN" altLang="en-US" dirty="0">
                <a:solidFill>
                  <a:srgbClr val="FF0000"/>
                </a:solidFill>
              </a:rPr>
              <a:t>．移位叠加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D</a:t>
            </a:r>
            <a:r>
              <a:rPr lang="zh-CN" altLang="en-US" dirty="0">
                <a:solidFill>
                  <a:srgbClr val="FF0000"/>
                </a:solidFill>
              </a:rPr>
              <a:t>．间界叠加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5D4A9F-3B2E-4473-A738-165AABB1F67F}" type="slidenum">
              <a:rPr lang="en-US" altLang="en-US">
                <a:solidFill>
                  <a:srgbClr val="4B4B4B"/>
                </a:solidFill>
              </a:rPr>
              <a:t>64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8067" name="内容占位符 2"/>
          <p:cNvSpPr>
            <a:spLocks noGrp="1"/>
          </p:cNvSpPr>
          <p:nvPr>
            <p:ph idx="1"/>
          </p:nvPr>
        </p:nvSpPr>
        <p:spPr>
          <a:xfrm>
            <a:off x="910481" y="1448747"/>
            <a:ext cx="7369175" cy="4570412"/>
          </a:xfrm>
        </p:spPr>
        <p:txBody>
          <a:bodyPr/>
          <a:lstStyle/>
          <a:p>
            <a:r>
              <a:rPr lang="zh-CN" altLang="en-US" dirty="0"/>
              <a:t>为提高散列（</a:t>
            </a:r>
            <a:r>
              <a:rPr lang="en-US" altLang="zh-CN" dirty="0"/>
              <a:t>Hash</a:t>
            </a:r>
            <a:r>
              <a:rPr lang="zh-CN" altLang="en-US" dirty="0"/>
              <a:t>）表的查找效率，可以采取的正确措施是</a:t>
            </a:r>
            <a:r>
              <a:rPr lang="en-US" altLang="zh-CN" dirty="0"/>
              <a:t>___</a:t>
            </a:r>
            <a:r>
              <a:rPr lang="en-US" altLang="zh-CN" u="sng" dirty="0"/>
              <a:t> </a:t>
            </a:r>
            <a:r>
              <a:rPr lang="en-US" altLang="zh-CN" dirty="0"/>
              <a:t>____</a:t>
            </a:r>
            <a:r>
              <a:rPr lang="zh-CN" altLang="en-US" dirty="0"/>
              <a:t>。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zh-CN" dirty="0"/>
              <a:t>I</a:t>
            </a:r>
            <a:r>
              <a:rPr lang="zh-CN" altLang="en-US" dirty="0"/>
              <a:t>． 增大装填因子</a:t>
            </a:r>
            <a:r>
              <a:rPr lang="en-US" altLang="zh-CN" dirty="0"/>
              <a:t> </a:t>
            </a:r>
            <a:endParaRPr lang="zh-CN" altLang="en-US" dirty="0"/>
          </a:p>
          <a:p>
            <a:pPr lvl="1">
              <a:buFont typeface="Arial" panose="020B0604020202020204" pitchFamily="34" charset="0"/>
              <a:buNone/>
            </a:pPr>
            <a:r>
              <a:rPr lang="en-US" altLang="zh-CN" dirty="0"/>
              <a:t>II</a:t>
            </a:r>
            <a:r>
              <a:rPr lang="zh-CN" altLang="en-US" dirty="0"/>
              <a:t>． 设计冲突少的散列函数</a:t>
            </a:r>
            <a:r>
              <a:rPr lang="en-US" altLang="zh-CN" dirty="0"/>
              <a:t> </a:t>
            </a:r>
            <a:endParaRPr lang="zh-CN" altLang="en-US" dirty="0"/>
          </a:p>
          <a:p>
            <a:pPr lvl="1">
              <a:buFont typeface="Arial" panose="020B0604020202020204" pitchFamily="34" charset="0"/>
              <a:buNone/>
            </a:pPr>
            <a:r>
              <a:rPr lang="en-US" altLang="zh-CN" dirty="0"/>
              <a:t>III</a:t>
            </a:r>
            <a:r>
              <a:rPr lang="zh-CN" altLang="en-US" dirty="0"/>
              <a:t>．处理冲突时避免产生聚集现象</a:t>
            </a:r>
            <a:r>
              <a:rPr lang="en-US" altLang="zh-CN" dirty="0"/>
              <a:t> </a:t>
            </a:r>
            <a:endParaRPr lang="zh-CN" altLang="en-US" dirty="0"/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．仅</a:t>
            </a:r>
            <a:r>
              <a:rPr lang="en-US" altLang="zh-CN" dirty="0">
                <a:solidFill>
                  <a:srgbClr val="FF0000"/>
                </a:solidFill>
              </a:rPr>
              <a:t>I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B</a:t>
            </a:r>
            <a:r>
              <a:rPr lang="zh-CN" altLang="en-US" dirty="0">
                <a:solidFill>
                  <a:srgbClr val="FF0000"/>
                </a:solidFill>
              </a:rPr>
              <a:t>．仅</a:t>
            </a:r>
            <a:r>
              <a:rPr lang="en-US" altLang="zh-CN" dirty="0">
                <a:solidFill>
                  <a:srgbClr val="FF0000"/>
                </a:solidFill>
              </a:rPr>
              <a:t>II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C</a:t>
            </a:r>
            <a:r>
              <a:rPr lang="zh-CN" altLang="en-US" dirty="0">
                <a:solidFill>
                  <a:srgbClr val="FF0000"/>
                </a:solidFill>
              </a:rPr>
              <a:t>．仅</a:t>
            </a:r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II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>
                <a:solidFill>
                  <a:srgbClr val="008000"/>
                </a:solidFill>
              </a:rPr>
              <a:t>D</a:t>
            </a:r>
            <a:r>
              <a:rPr lang="zh-CN" altLang="en-US" dirty="0">
                <a:solidFill>
                  <a:srgbClr val="008000"/>
                </a:solidFill>
              </a:rPr>
              <a:t>．仅</a:t>
            </a:r>
            <a:r>
              <a:rPr lang="en-US" altLang="zh-CN" dirty="0">
                <a:solidFill>
                  <a:srgbClr val="008000"/>
                </a:solidFill>
              </a:rPr>
              <a:t>II</a:t>
            </a:r>
            <a:r>
              <a:rPr lang="zh-CN" altLang="en-US" dirty="0">
                <a:solidFill>
                  <a:srgbClr val="008000"/>
                </a:solidFill>
              </a:rPr>
              <a:t>、</a:t>
            </a:r>
            <a:r>
              <a:rPr lang="en-US" altLang="zh-CN" dirty="0">
                <a:solidFill>
                  <a:srgbClr val="008000"/>
                </a:solidFill>
              </a:rPr>
              <a:t>III 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CDBE88-0C2F-4EF4-888E-629D466A8154}" type="slidenum">
              <a:rPr lang="en-US" altLang="en-US">
                <a:solidFill>
                  <a:srgbClr val="4B4B4B"/>
                </a:solidFill>
              </a:rPr>
              <a:t>65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E24931-D6A9-4068-A51B-EF09B30C113B}" type="slidenum">
              <a:rPr lang="en-US" altLang="en-US">
                <a:solidFill>
                  <a:srgbClr val="4B4B4B"/>
                </a:solidFill>
              </a:rPr>
              <a:t>66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本章结束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5-10</a:t>
            </a:r>
            <a:r>
              <a:rPr lang="zh-CN" altLang="en-US"/>
              <a:t>章小结</a:t>
            </a:r>
          </a:p>
        </p:txBody>
      </p:sp>
      <p:sp>
        <p:nvSpPr>
          <p:cNvPr id="90115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五种数据结构</a:t>
            </a:r>
            <a:endParaRPr lang="en-US" altLang="zh-CN" dirty="0"/>
          </a:p>
          <a:p>
            <a:pPr lvl="1"/>
            <a:r>
              <a:rPr lang="zh-CN" altLang="en-US" dirty="0"/>
              <a:t>线性表、矩阵、堆栈、队列、字典</a:t>
            </a:r>
            <a:endParaRPr lang="en-US" altLang="zh-CN" dirty="0"/>
          </a:p>
          <a:p>
            <a:r>
              <a:rPr lang="zh-CN" altLang="en-US" dirty="0"/>
              <a:t>六种排序算法</a:t>
            </a:r>
            <a:endParaRPr lang="en-US" altLang="zh-CN" dirty="0"/>
          </a:p>
          <a:p>
            <a:pPr lvl="1"/>
            <a:r>
              <a:rPr lang="zh-CN" altLang="en-US" dirty="0"/>
              <a:t>计数、选择、冒泡、插入、箱子、基数</a:t>
            </a:r>
            <a:endParaRPr lang="en-US" altLang="zh-CN" dirty="0"/>
          </a:p>
          <a:p>
            <a:r>
              <a:rPr lang="zh-CN" altLang="en-US" dirty="0"/>
              <a:t>三种查找算法</a:t>
            </a:r>
            <a:endParaRPr lang="en-US" altLang="zh-CN" dirty="0"/>
          </a:p>
          <a:p>
            <a:pPr lvl="1"/>
            <a:r>
              <a:rPr lang="zh-CN" altLang="en-US" dirty="0"/>
              <a:t>顺序、二分、哈希</a:t>
            </a:r>
          </a:p>
        </p:txBody>
      </p:sp>
      <p:sp>
        <p:nvSpPr>
          <p:cNvPr id="90116" name="灯片编号占位符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22EB98-BEC5-4C13-8F14-B0CBA78F96FF}" type="slidenum">
              <a:rPr lang="en-US" altLang="en-US">
                <a:solidFill>
                  <a:srgbClr val="4B4B4B"/>
                </a:solidFill>
              </a:rPr>
              <a:t>67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5-10</a:t>
            </a:r>
            <a:r>
              <a:rPr lang="zh-CN" altLang="en-US"/>
              <a:t>章小结</a:t>
            </a:r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特别重要的知识点</a:t>
            </a:r>
            <a:endParaRPr lang="en-US" altLang="zh-CN"/>
          </a:p>
          <a:p>
            <a:pPr lvl="1"/>
            <a:r>
              <a:rPr lang="zh-CN" altLang="en-US"/>
              <a:t>线性表（尤其是</a:t>
            </a:r>
            <a:r>
              <a:rPr lang="zh-CN" altLang="en-US">
                <a:solidFill>
                  <a:srgbClr val="FF0000"/>
                </a:solidFill>
              </a:rPr>
              <a:t>链表</a:t>
            </a:r>
            <a:r>
              <a:rPr lang="zh-CN" altLang="en-US"/>
              <a:t>）的含义、描述、操作、性能分析</a:t>
            </a:r>
            <a:endParaRPr lang="en-US" altLang="zh-CN"/>
          </a:p>
          <a:p>
            <a:pPr lvl="1"/>
            <a:r>
              <a:rPr lang="zh-CN" altLang="en-US"/>
              <a:t>特殊矩阵和稀疏矩阵的表示</a:t>
            </a:r>
            <a:endParaRPr lang="en-US" altLang="zh-CN"/>
          </a:p>
          <a:p>
            <a:pPr lvl="1"/>
            <a:r>
              <a:rPr lang="zh-CN" altLang="en-US"/>
              <a:t>栈和队列的原理、操作</a:t>
            </a:r>
            <a:endParaRPr lang="en-US" altLang="zh-CN"/>
          </a:p>
          <a:p>
            <a:pPr lvl="1"/>
            <a:r>
              <a:rPr lang="en-US" altLang="zh-CN"/>
              <a:t>Hash</a:t>
            </a:r>
            <a:r>
              <a:rPr lang="zh-CN" altLang="en-US"/>
              <a:t>过程</a:t>
            </a:r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E47896-DF6B-495C-9102-D154F76DA6AE}" type="slidenum">
              <a:rPr lang="en-US" altLang="en-US">
                <a:solidFill>
                  <a:srgbClr val="4B4B4B"/>
                </a:solidFill>
              </a:rPr>
              <a:t>68</a:t>
            </a:fld>
            <a:endParaRPr lang="en-US" altLang="en-US">
              <a:solidFill>
                <a:srgbClr val="4B4B4B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gzNzlkZmIxMjc2MmEzN2FjNzA2NjU0M2NkNWNhZWUifQ=="/>
</p:tagLst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0" tIns="0" rIns="182880" bIns="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70</TotalTime>
  <Words>4478</Words>
  <Application>Microsoft Office PowerPoint</Application>
  <PresentationFormat>全屏显示(4:3)</PresentationFormat>
  <Paragraphs>712</Paragraphs>
  <Slides>68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5" baseType="lpstr">
      <vt:lpstr>黑体</vt:lpstr>
      <vt:lpstr>宋体</vt:lpstr>
      <vt:lpstr>Arial</vt:lpstr>
      <vt:lpstr>Symbol</vt:lpstr>
      <vt:lpstr>Tahoma</vt:lpstr>
      <vt:lpstr>Times New Roman</vt:lpstr>
      <vt:lpstr>Wingdings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Equation</vt:lpstr>
      <vt:lpstr>第10章  散列</vt:lpstr>
      <vt:lpstr>主要内容</vt:lpstr>
      <vt:lpstr>字典ADT</vt:lpstr>
      <vt:lpstr>字典操作</vt:lpstr>
      <vt:lpstr>字典例</vt:lpstr>
      <vt:lpstr>字典例（续）</vt:lpstr>
      <vt:lpstr>PowerPoint 演示文稿</vt:lpstr>
      <vt:lpstr>字典的线性表描述</vt:lpstr>
      <vt:lpstr>SortedChain类</vt:lpstr>
      <vt:lpstr>搜索操作</vt:lpstr>
      <vt:lpstr>删除操作</vt:lpstr>
      <vt:lpstr>删除操作（续）</vt:lpstr>
      <vt:lpstr>插入操作</vt:lpstr>
      <vt:lpstr>不允许重复关键字的插入</vt:lpstr>
      <vt:lpstr>不允许重复关键字的插入(续)</vt:lpstr>
      <vt:lpstr>主要内容</vt:lpstr>
      <vt:lpstr>H1.散列</vt:lpstr>
      <vt:lpstr>散列</vt:lpstr>
      <vt:lpstr>Hash  VS  传统查找</vt:lpstr>
      <vt:lpstr>最简单的散列</vt:lpstr>
      <vt:lpstr>一个更一般的散列</vt:lpstr>
      <vt:lpstr>省级区划的Hash函数</vt:lpstr>
      <vt:lpstr>省级区划的Hash结果</vt:lpstr>
      <vt:lpstr>Hash的两个关键问题</vt:lpstr>
      <vt:lpstr>关键问题一：构造Hash函数</vt:lpstr>
      <vt:lpstr>直接定址法</vt:lpstr>
      <vt:lpstr>数字分析法</vt:lpstr>
      <vt:lpstr>数字分析法示例</vt:lpstr>
      <vt:lpstr>平方取中法</vt:lpstr>
      <vt:lpstr>平方取中法示例</vt:lpstr>
      <vt:lpstr>折叠法</vt:lpstr>
      <vt:lpstr>折叠法的分类</vt:lpstr>
      <vt:lpstr>折叠法示例</vt:lpstr>
      <vt:lpstr>除留余数法</vt:lpstr>
      <vt:lpstr>关键问题二：处理冲突</vt:lpstr>
      <vt:lpstr>线性开型寻址法</vt:lpstr>
      <vt:lpstr>线性开型寻址法</vt:lpstr>
      <vt:lpstr>线性探测法示例</vt:lpstr>
      <vt:lpstr>线性探测法实例</vt:lpstr>
      <vt:lpstr>搜索操作</vt:lpstr>
      <vt:lpstr>搜索操作</vt:lpstr>
      <vt:lpstr>删除操作</vt:lpstr>
      <vt:lpstr>HashTable类</vt:lpstr>
      <vt:lpstr>HashTable类</vt:lpstr>
      <vt:lpstr>构造函数</vt:lpstr>
      <vt:lpstr>辅助函数hSearch</vt:lpstr>
      <vt:lpstr>搜索函数Search</vt:lpstr>
      <vt:lpstr>插入操作</vt:lpstr>
      <vt:lpstr>线性探测法的特点</vt:lpstr>
      <vt:lpstr>线性探测法的特点</vt:lpstr>
      <vt:lpstr>复杂性分析</vt:lpstr>
      <vt:lpstr>平均情况</vt:lpstr>
      <vt:lpstr>二次探测法</vt:lpstr>
      <vt:lpstr>与线性探测的比较</vt:lpstr>
      <vt:lpstr>双散列法</vt:lpstr>
      <vt:lpstr>链表法</vt:lpstr>
      <vt:lpstr>链表法思想</vt:lpstr>
      <vt:lpstr>ChainHashTable类</vt:lpstr>
      <vt:lpstr>ChainHashTable类</vt:lpstr>
      <vt:lpstr>一点改进</vt:lpstr>
      <vt:lpstr>溢出链表法时间复杂性</vt:lpstr>
      <vt:lpstr>溢出链表法时间复杂性（续）</vt:lpstr>
      <vt:lpstr>H1小结</vt:lpstr>
      <vt:lpstr>课堂练习</vt:lpstr>
      <vt:lpstr>课堂练习</vt:lpstr>
      <vt:lpstr>PowerPoint 演示文稿</vt:lpstr>
      <vt:lpstr>5-10章小结</vt:lpstr>
      <vt:lpstr>5-10章小结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Lenovo</cp:lastModifiedBy>
  <cp:revision>1538</cp:revision>
  <dcterms:created xsi:type="dcterms:W3CDTF">2008-01-10T01:45:00Z</dcterms:created>
  <dcterms:modified xsi:type="dcterms:W3CDTF">2024-12-25T13:18:43Z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FC70E82FF5B541A0BB156095A16C12BF_12</vt:lpwstr>
  </property>
  <property fmtid="{D5CDD505-2E9C-101B-9397-08002B2CF9AE}" pid="3" name="KSOProductBuildVer">
    <vt:lpwstr>2052-12.1.0.18608</vt:lpwstr>
  </property>
</Properties>
</file>